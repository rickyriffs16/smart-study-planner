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Source Sans 3"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4772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sv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hyperlink" Target="https://smart-study-planner-4zb5.onrender.com"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hyperlink" Target="https://smart-study-planner-4zb5.onrender.com"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757774" y="2963585"/>
            <a:ext cx="5349002" cy="613529"/>
          </a:xfrm>
          <a:prstGeom prst="rect">
            <a:avLst/>
          </a:prstGeom>
          <a:noFill/>
          <a:ln/>
        </p:spPr>
        <p:txBody>
          <a:bodyPr wrap="none" lIns="0" tIns="0" rIns="0" bIns="0" rtlCol="0" anchor="t"/>
          <a:lstStyle/>
          <a:p>
            <a:pPr marL="0" indent="0" algn="l">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Smart Study Planner</a:t>
            </a:r>
          </a:p>
        </p:txBody>
      </p:sp>
      <p:sp>
        <p:nvSpPr>
          <p:cNvPr id="4" name="Text 1"/>
          <p:cNvSpPr/>
          <p:nvPr/>
        </p:nvSpPr>
        <p:spPr>
          <a:xfrm>
            <a:off x="757774" y="3804116"/>
            <a:ext cx="6562249" cy="306705"/>
          </a:xfrm>
          <a:prstGeom prst="rect">
            <a:avLst/>
          </a:prstGeom>
          <a:noFill/>
          <a:ln/>
        </p:spPr>
        <p:txBody>
          <a:bodyPr wrap="non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A Web-Based Academic Task Management System</a:t>
            </a:r>
            <a:endParaRPr lang="en-US" sz="1900" dirty="0"/>
          </a:p>
        </p:txBody>
      </p:sp>
      <p:sp>
        <p:nvSpPr>
          <p:cNvPr id="5" name="Text 2"/>
          <p:cNvSpPr/>
          <p:nvPr/>
        </p:nvSpPr>
        <p:spPr>
          <a:xfrm>
            <a:off x="757774" y="4644529"/>
            <a:ext cx="7416403" cy="971907"/>
          </a:xfrm>
          <a:prstGeom prst="rect">
            <a:avLst/>
          </a:prstGeom>
          <a:noFill/>
          <a:ln/>
        </p:spPr>
        <p:txBody>
          <a:bodyPr wrap="square" lIns="0" tIns="0" rIns="0" bIns="0" rtlCol="0" anchor="t"/>
          <a:lstStyle/>
          <a:p>
            <a:pPr marL="0" indent="0" algn="l">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Mani Rithik CS-2341323</a:t>
            </a:r>
          </a:p>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Department of Computer Science</a:t>
            </a:r>
            <a:endParaRPr lang="en-US" sz="1700" dirty="0"/>
          </a:p>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April 2026</a:t>
            </a:r>
            <a:endParaRPr lang="en-US" sz="1700" dirty="0"/>
          </a:p>
        </p:txBody>
      </p:sp>
      <p:pic>
        <p:nvPicPr>
          <p:cNvPr id="7" name="Picture 6">
            <a:extLst>
              <a:ext uri="{FF2B5EF4-FFF2-40B4-BE49-F238E27FC236}">
                <a16:creationId xmlns:a16="http://schemas.microsoft.com/office/drawing/2014/main" id="{4E610017-1F57-D359-1E50-1A1C508CBCC3}"/>
              </a:ext>
            </a:extLst>
          </p:cNvPr>
          <p:cNvPicPr>
            <a:picLocks noChangeAspect="1"/>
          </p:cNvPicPr>
          <p:nvPr/>
        </p:nvPicPr>
        <p:blipFill>
          <a:blip r:embed="rId3"/>
          <a:stretch>
            <a:fillRect/>
          </a:stretch>
        </p:blipFill>
        <p:spPr>
          <a:xfrm>
            <a:off x="7213998" y="0"/>
            <a:ext cx="739007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237893"/>
            <a:ext cx="8403550" cy="613529"/>
          </a:xfrm>
          <a:prstGeom prst="rect">
            <a:avLst/>
          </a:prstGeom>
          <a:noFill/>
          <a:ln/>
        </p:spPr>
        <p:txBody>
          <a:bodyPr wrap="none" lIns="0" tIns="0" rIns="0" bIns="0" rtlCol="0" anchor="t"/>
          <a:lstStyle/>
          <a:p>
            <a:pPr marL="0" indent="0" algn="l">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Problem Statement &amp; Objectives</a:t>
            </a:r>
            <a:endParaRPr lang="en-US" sz="3850" dirty="0"/>
          </a:p>
        </p:txBody>
      </p:sp>
      <p:sp>
        <p:nvSpPr>
          <p:cNvPr id="3" name="Text 1"/>
          <p:cNvSpPr/>
          <p:nvPr/>
        </p:nvSpPr>
        <p:spPr>
          <a:xfrm>
            <a:off x="863798" y="2391132"/>
            <a:ext cx="2945130" cy="368141"/>
          </a:xfrm>
          <a:prstGeom prst="rect">
            <a:avLst/>
          </a:prstGeom>
          <a:noFill/>
          <a:ln/>
        </p:spPr>
        <p:txBody>
          <a:bodyPr wrap="none" lIns="0" tIns="0" rIns="0" bIns="0" rtlCol="0" anchor="t"/>
          <a:lstStyle/>
          <a:p>
            <a:pPr marL="0" indent="0" algn="l">
              <a:lnSpc>
                <a:spcPts val="2850"/>
              </a:lnSpc>
              <a:buNone/>
            </a:pPr>
            <a:r>
              <a:rPr lang="en-US" sz="2300" b="1" dirty="0">
                <a:solidFill>
                  <a:srgbClr val="FFFFFF"/>
                </a:solidFill>
                <a:latin typeface="Montserrat Bold" pitchFamily="34" charset="0"/>
                <a:ea typeface="Montserrat Bold" pitchFamily="34" charset="-122"/>
                <a:cs typeface="Montserrat Bold" pitchFamily="34" charset="-120"/>
              </a:rPr>
              <a:t>The Challenge</a:t>
            </a:r>
            <a:endParaRPr lang="en-US" sz="2300" dirty="0"/>
          </a:p>
        </p:txBody>
      </p:sp>
      <p:sp>
        <p:nvSpPr>
          <p:cNvPr id="4" name="Text 2"/>
          <p:cNvSpPr/>
          <p:nvPr/>
        </p:nvSpPr>
        <p:spPr>
          <a:xfrm>
            <a:off x="863798" y="2975134"/>
            <a:ext cx="5516404" cy="1943814"/>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Students today juggle multiple courses, assignments, and deadlines across different subjects. Without a centralized system, it's easy to lose track of what's due when. Traditional paper planners can't adapt to changing priorities, and students lack tools to measure their productivity or maintain focus during study sessions.</a:t>
            </a:r>
            <a:endParaRPr lang="en-US" sz="1700" dirty="0"/>
          </a:p>
        </p:txBody>
      </p:sp>
      <p:sp>
        <p:nvSpPr>
          <p:cNvPr id="5" name="Text 3"/>
          <p:cNvSpPr/>
          <p:nvPr/>
        </p:nvSpPr>
        <p:spPr>
          <a:xfrm>
            <a:off x="863798" y="5113258"/>
            <a:ext cx="5516404" cy="1619845"/>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The absence of integrated tracking makes it difficult to assess study patterns, identify time sinks, or optimize learning strategies. Students need a comprehensive solution that combines task management with focus aids and performance analytics.</a:t>
            </a:r>
            <a:endParaRPr lang="en-US" sz="1700" dirty="0"/>
          </a:p>
        </p:txBody>
      </p:sp>
      <p:sp>
        <p:nvSpPr>
          <p:cNvPr id="6" name="Text 4"/>
          <p:cNvSpPr/>
          <p:nvPr/>
        </p:nvSpPr>
        <p:spPr>
          <a:xfrm>
            <a:off x="6914793" y="2391132"/>
            <a:ext cx="2945130" cy="368141"/>
          </a:xfrm>
          <a:prstGeom prst="rect">
            <a:avLst/>
          </a:prstGeom>
          <a:noFill/>
          <a:ln/>
        </p:spPr>
        <p:txBody>
          <a:bodyPr wrap="none" lIns="0" tIns="0" rIns="0" bIns="0" rtlCol="0" anchor="t"/>
          <a:lstStyle/>
          <a:p>
            <a:pPr marL="0" indent="0" algn="l">
              <a:lnSpc>
                <a:spcPts val="2850"/>
              </a:lnSpc>
              <a:buNone/>
            </a:pPr>
            <a:r>
              <a:rPr lang="en-US" sz="2300" b="1" dirty="0">
                <a:solidFill>
                  <a:srgbClr val="FFFFFF"/>
                </a:solidFill>
                <a:latin typeface="Montserrat Bold" pitchFamily="34" charset="0"/>
                <a:ea typeface="Montserrat Bold" pitchFamily="34" charset="-122"/>
                <a:cs typeface="Montserrat Bold" pitchFamily="34" charset="-120"/>
              </a:rPr>
              <a:t>Project Goals</a:t>
            </a:r>
            <a:endParaRPr lang="en-US" sz="2300" dirty="0"/>
          </a:p>
        </p:txBody>
      </p:sp>
      <p:sp>
        <p:nvSpPr>
          <p:cNvPr id="7" name="Text 5"/>
          <p:cNvSpPr/>
          <p:nvPr/>
        </p:nvSpPr>
        <p:spPr>
          <a:xfrm>
            <a:off x="6914793" y="2975134"/>
            <a:ext cx="6859310" cy="3941088"/>
          </a:xfrm>
          <a:prstGeom prst="rect">
            <a:avLst/>
          </a:prstGeom>
          <a:noFill/>
          <a:ln/>
        </p:spPr>
        <p:txBody>
          <a:bodyPr wrap="square" lIns="0" tIns="0" rIns="0" bIns="0" rtlCol="0" anchor="t"/>
          <a:lstStyle/>
          <a:p>
            <a:pPr marL="342900" indent="-342900" algn="l">
              <a:lnSpc>
                <a:spcPts val="2550"/>
              </a:lnSpc>
              <a:buSzPct val="100000"/>
              <a:buChar char="•"/>
            </a:pPr>
            <a:r>
              <a:rPr lang="en-US" sz="1700" dirty="0">
                <a:solidFill>
                  <a:srgbClr val="E2E6E9"/>
                </a:solidFill>
                <a:latin typeface="Source Sans 3" pitchFamily="34" charset="0"/>
                <a:ea typeface="Source Sans 3" pitchFamily="34" charset="-122"/>
                <a:cs typeface="Source Sans 3" pitchFamily="34" charset="-120"/>
              </a:rPr>
              <a:t>Build an intelligent web application for academic task scheduling and priority management</a:t>
            </a:r>
            <a:endParaRPr lang="en-US" sz="1700" dirty="0"/>
          </a:p>
          <a:p>
            <a:pPr marL="342900" indent="-342900" algn="l">
              <a:lnSpc>
                <a:spcPts val="2550"/>
              </a:lnSpc>
              <a:buSzPct val="100000"/>
              <a:buChar char="•"/>
            </a:pPr>
            <a:r>
              <a:rPr lang="en-US" sz="1700" dirty="0">
                <a:solidFill>
                  <a:srgbClr val="E2E6E9"/>
                </a:solidFill>
                <a:latin typeface="Source Sans 3" pitchFamily="34" charset="0"/>
                <a:ea typeface="Source Sans 3" pitchFamily="34" charset="-122"/>
                <a:cs typeface="Source Sans 3" pitchFamily="34" charset="-120"/>
              </a:rPr>
              <a:t>Implement a Pomodoro focus timer to boost productivity through timed study sessions</a:t>
            </a:r>
            <a:endParaRPr lang="en-US" sz="1700" dirty="0"/>
          </a:p>
          <a:p>
            <a:pPr marL="342900" indent="-342900" algn="l">
              <a:lnSpc>
                <a:spcPts val="2550"/>
              </a:lnSpc>
              <a:buSzPct val="100000"/>
              <a:buChar char="•"/>
            </a:pPr>
            <a:r>
              <a:rPr lang="en-US" sz="1700" dirty="0">
                <a:solidFill>
                  <a:srgbClr val="E2E6E9"/>
                </a:solidFill>
                <a:latin typeface="Source Sans 3" pitchFamily="34" charset="0"/>
                <a:ea typeface="Source Sans 3" pitchFamily="34" charset="-122"/>
                <a:cs typeface="Source Sans 3" pitchFamily="34" charset="-120"/>
              </a:rPr>
              <a:t>Provide visual analytics dashboards to track study performance and completion rates</a:t>
            </a:r>
            <a:endParaRPr lang="en-US" sz="1700" dirty="0"/>
          </a:p>
          <a:p>
            <a:pPr marL="342900" indent="-342900" algn="l">
              <a:lnSpc>
                <a:spcPts val="2550"/>
              </a:lnSpc>
              <a:buSzPct val="100000"/>
              <a:buChar char="•"/>
            </a:pPr>
            <a:r>
              <a:rPr lang="en-US" sz="1700" dirty="0">
                <a:solidFill>
                  <a:srgbClr val="E2E6E9"/>
                </a:solidFill>
                <a:latin typeface="Source Sans 3" pitchFamily="34" charset="0"/>
                <a:ea typeface="Source Sans 3" pitchFamily="34" charset="-122"/>
                <a:cs typeface="Source Sans 3" pitchFamily="34" charset="-120"/>
              </a:rPr>
              <a:t>Enable calendar integration for seamless task synchronization across platforms</a:t>
            </a:r>
            <a:endParaRPr lang="en-US" sz="1700" dirty="0"/>
          </a:p>
          <a:p>
            <a:pPr marL="342900" indent="-342900" algn="l">
              <a:lnSpc>
                <a:spcPts val="2550"/>
              </a:lnSpc>
              <a:buSzPct val="100000"/>
              <a:buChar char="•"/>
            </a:pPr>
            <a:r>
              <a:rPr lang="en-US" sz="1700" dirty="0">
                <a:solidFill>
                  <a:srgbClr val="E2E6E9"/>
                </a:solidFill>
                <a:latin typeface="Source Sans 3" pitchFamily="34" charset="0"/>
                <a:ea typeface="Source Sans 3" pitchFamily="34" charset="-122"/>
                <a:cs typeface="Source Sans 3" pitchFamily="34" charset="-120"/>
              </a:rPr>
              <a:t>Support persistent note-taking and flashcard creation for comprehensive learning</a:t>
            </a:r>
            <a:endParaRPr lang="en-US" sz="1700" dirty="0"/>
          </a:p>
          <a:p>
            <a:pPr marL="342900" indent="-342900" algn="l">
              <a:lnSpc>
                <a:spcPts val="2550"/>
              </a:lnSpc>
              <a:buSzPct val="100000"/>
              <a:buChar char="•"/>
            </a:pPr>
            <a:r>
              <a:rPr lang="en-US" sz="1700" dirty="0">
                <a:solidFill>
                  <a:srgbClr val="E2E6E9"/>
                </a:solidFill>
                <a:latin typeface="Source Sans 3" pitchFamily="34" charset="0"/>
                <a:ea typeface="Source Sans 3" pitchFamily="34" charset="-122"/>
                <a:cs typeface="Source Sans 3" pitchFamily="34" charset="-120"/>
              </a:rPr>
              <a:t>Deploy the application as a publicly accessible web service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69382" y="579120"/>
            <a:ext cx="4371618" cy="546497"/>
          </a:xfrm>
          <a:prstGeom prst="rect">
            <a:avLst/>
          </a:prstGeom>
          <a:noFill/>
          <a:ln/>
        </p:spPr>
        <p:txBody>
          <a:bodyPr wrap="none" lIns="0" tIns="0" rIns="0" bIns="0" rtlCol="0" anchor="t"/>
          <a:lstStyle/>
          <a:p>
            <a:pPr marL="0" indent="0" algn="l">
              <a:lnSpc>
                <a:spcPts val="4300"/>
              </a:lnSpc>
              <a:buNone/>
            </a:pPr>
            <a:r>
              <a:rPr lang="en-US" sz="3400" b="1" dirty="0">
                <a:solidFill>
                  <a:srgbClr val="FFFFFF"/>
                </a:solidFill>
                <a:latin typeface="Montserrat Bold" pitchFamily="34" charset="0"/>
                <a:ea typeface="Montserrat Bold" pitchFamily="34" charset="-122"/>
                <a:cs typeface="Montserrat Bold" pitchFamily="34" charset="-120"/>
              </a:rPr>
              <a:t>Technology Stack</a:t>
            </a:r>
            <a:endParaRPr lang="en-US" sz="3400" dirty="0"/>
          </a:p>
        </p:txBody>
      </p:sp>
      <p:sp>
        <p:nvSpPr>
          <p:cNvPr id="3" name="Text 1"/>
          <p:cNvSpPr/>
          <p:nvPr/>
        </p:nvSpPr>
        <p:spPr>
          <a:xfrm>
            <a:off x="769382" y="1468160"/>
            <a:ext cx="13091636"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The application follows a robust 3-tier MVC architecture, combining modern frontend frameworks with reliable backend technologies and cloud infrastructure.</a:t>
            </a:r>
            <a:endParaRPr lang="en-US" sz="1500" dirty="0"/>
          </a:p>
        </p:txBody>
      </p:sp>
      <p:sp>
        <p:nvSpPr>
          <p:cNvPr id="4" name="Shape 2"/>
          <p:cNvSpPr/>
          <p:nvPr/>
        </p:nvSpPr>
        <p:spPr>
          <a:xfrm>
            <a:off x="769382" y="1933575"/>
            <a:ext cx="13091636" cy="3469838"/>
          </a:xfrm>
          <a:prstGeom prst="roundRect">
            <a:avLst>
              <a:gd name="adj" fmla="val 832"/>
            </a:avLst>
          </a:prstGeom>
          <a:noFill/>
          <a:ln w="7620">
            <a:solidFill>
              <a:srgbClr val="FFFFFF">
                <a:alpha val="24000"/>
              </a:srgbClr>
            </a:solidFill>
            <a:prstDash val="solid"/>
          </a:ln>
        </p:spPr>
      </p:sp>
      <p:sp>
        <p:nvSpPr>
          <p:cNvPr id="5" name="Shape 3"/>
          <p:cNvSpPr/>
          <p:nvPr/>
        </p:nvSpPr>
        <p:spPr>
          <a:xfrm>
            <a:off x="777002" y="1941195"/>
            <a:ext cx="13076396" cy="493514"/>
          </a:xfrm>
          <a:prstGeom prst="rect">
            <a:avLst/>
          </a:prstGeom>
          <a:solidFill>
            <a:srgbClr val="FFFFFF">
              <a:alpha val="4000"/>
            </a:srgbClr>
          </a:solidFill>
          <a:ln/>
        </p:spPr>
      </p:sp>
      <p:sp>
        <p:nvSpPr>
          <p:cNvPr id="6" name="Text 4"/>
          <p:cNvSpPr/>
          <p:nvPr/>
        </p:nvSpPr>
        <p:spPr>
          <a:xfrm>
            <a:off x="969407" y="2051566"/>
            <a:ext cx="3534489" cy="272772"/>
          </a:xfrm>
          <a:prstGeom prst="rect">
            <a:avLst/>
          </a:prstGeom>
          <a:noFill/>
          <a:ln/>
        </p:spPr>
        <p:txBody>
          <a:bodyPr wrap="none" lIns="0" tIns="0" rIns="0" bIns="0" rtlCol="0" anchor="t"/>
          <a:lstStyle/>
          <a:p>
            <a:pPr marL="0" indent="0" algn="l">
              <a:lnSpc>
                <a:spcPts val="2100"/>
              </a:lnSpc>
              <a:buNone/>
            </a:pPr>
            <a:r>
              <a:rPr lang="en-US" sz="1500" b="1" dirty="0">
                <a:solidFill>
                  <a:srgbClr val="E2E6E9"/>
                </a:solidFill>
                <a:latin typeface="Source Sans 3" pitchFamily="34" charset="0"/>
                <a:ea typeface="Source Sans 3" pitchFamily="34" charset="-122"/>
                <a:cs typeface="Source Sans 3" pitchFamily="34" charset="-120"/>
              </a:rPr>
              <a:t>Layer</a:t>
            </a:r>
            <a:endParaRPr lang="en-US" sz="1500" dirty="0"/>
          </a:p>
        </p:txBody>
      </p:sp>
      <p:sp>
        <p:nvSpPr>
          <p:cNvPr id="7" name="Text 5"/>
          <p:cNvSpPr/>
          <p:nvPr/>
        </p:nvSpPr>
        <p:spPr>
          <a:xfrm>
            <a:off x="4896088" y="2051566"/>
            <a:ext cx="8765024" cy="272772"/>
          </a:xfrm>
          <a:prstGeom prst="rect">
            <a:avLst/>
          </a:prstGeom>
          <a:noFill/>
          <a:ln/>
        </p:spPr>
        <p:txBody>
          <a:bodyPr wrap="none" lIns="0" tIns="0" rIns="0" bIns="0" rtlCol="0" anchor="t"/>
          <a:lstStyle/>
          <a:p>
            <a:pPr marL="0" indent="0" algn="l">
              <a:lnSpc>
                <a:spcPts val="2100"/>
              </a:lnSpc>
              <a:buNone/>
            </a:pPr>
            <a:r>
              <a:rPr lang="en-US" sz="1500" b="1" dirty="0">
                <a:solidFill>
                  <a:srgbClr val="E2E6E9"/>
                </a:solidFill>
                <a:latin typeface="Source Sans 3" pitchFamily="34" charset="0"/>
                <a:ea typeface="Source Sans 3" pitchFamily="34" charset="-122"/>
                <a:cs typeface="Source Sans 3" pitchFamily="34" charset="-120"/>
              </a:rPr>
              <a:t>Technology</a:t>
            </a:r>
            <a:endParaRPr lang="en-US" sz="1500" dirty="0"/>
          </a:p>
        </p:txBody>
      </p:sp>
      <p:sp>
        <p:nvSpPr>
          <p:cNvPr id="8" name="Shape 6"/>
          <p:cNvSpPr/>
          <p:nvPr/>
        </p:nvSpPr>
        <p:spPr>
          <a:xfrm>
            <a:off x="777002" y="2434709"/>
            <a:ext cx="13076396" cy="493514"/>
          </a:xfrm>
          <a:prstGeom prst="rect">
            <a:avLst/>
          </a:prstGeom>
          <a:solidFill>
            <a:srgbClr val="000000">
              <a:alpha val="4000"/>
            </a:srgbClr>
          </a:solidFill>
          <a:ln/>
        </p:spPr>
      </p:sp>
      <p:sp>
        <p:nvSpPr>
          <p:cNvPr id="9" name="Text 7"/>
          <p:cNvSpPr/>
          <p:nvPr/>
        </p:nvSpPr>
        <p:spPr>
          <a:xfrm>
            <a:off x="969407" y="2545080"/>
            <a:ext cx="3534489"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Frontend</a:t>
            </a:r>
            <a:endParaRPr lang="en-US" sz="1500" dirty="0"/>
          </a:p>
        </p:txBody>
      </p:sp>
      <p:sp>
        <p:nvSpPr>
          <p:cNvPr id="10" name="Text 8"/>
          <p:cNvSpPr/>
          <p:nvPr/>
        </p:nvSpPr>
        <p:spPr>
          <a:xfrm>
            <a:off x="4896088" y="2545080"/>
            <a:ext cx="8765024"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HTML5, CSS3, Vanilla JavaScript</a:t>
            </a:r>
            <a:endParaRPr lang="en-US" sz="1500" dirty="0"/>
          </a:p>
        </p:txBody>
      </p:sp>
      <p:sp>
        <p:nvSpPr>
          <p:cNvPr id="11" name="Shape 9"/>
          <p:cNvSpPr/>
          <p:nvPr/>
        </p:nvSpPr>
        <p:spPr>
          <a:xfrm>
            <a:off x="777002" y="2928223"/>
            <a:ext cx="13076396" cy="493514"/>
          </a:xfrm>
          <a:prstGeom prst="rect">
            <a:avLst/>
          </a:prstGeom>
          <a:solidFill>
            <a:srgbClr val="FFFFFF">
              <a:alpha val="4000"/>
            </a:srgbClr>
          </a:solidFill>
          <a:ln/>
        </p:spPr>
      </p:sp>
      <p:sp>
        <p:nvSpPr>
          <p:cNvPr id="12" name="Text 10"/>
          <p:cNvSpPr/>
          <p:nvPr/>
        </p:nvSpPr>
        <p:spPr>
          <a:xfrm>
            <a:off x="969407" y="3038594"/>
            <a:ext cx="3534489"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Styling</a:t>
            </a:r>
            <a:endParaRPr lang="en-US" sz="1500" dirty="0"/>
          </a:p>
        </p:txBody>
      </p:sp>
      <p:sp>
        <p:nvSpPr>
          <p:cNvPr id="13" name="Text 11"/>
          <p:cNvSpPr/>
          <p:nvPr/>
        </p:nvSpPr>
        <p:spPr>
          <a:xfrm>
            <a:off x="4896088" y="3038594"/>
            <a:ext cx="8765024"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Bootstrap 5, Custom CSS with Dark/Light Mode Toggle</a:t>
            </a:r>
            <a:endParaRPr lang="en-US" sz="1500" dirty="0"/>
          </a:p>
        </p:txBody>
      </p:sp>
      <p:sp>
        <p:nvSpPr>
          <p:cNvPr id="14" name="Shape 12"/>
          <p:cNvSpPr/>
          <p:nvPr/>
        </p:nvSpPr>
        <p:spPr>
          <a:xfrm>
            <a:off x="777002" y="3421737"/>
            <a:ext cx="13076396" cy="493514"/>
          </a:xfrm>
          <a:prstGeom prst="rect">
            <a:avLst/>
          </a:prstGeom>
          <a:solidFill>
            <a:srgbClr val="000000">
              <a:alpha val="4000"/>
            </a:srgbClr>
          </a:solidFill>
          <a:ln/>
        </p:spPr>
      </p:sp>
      <p:sp>
        <p:nvSpPr>
          <p:cNvPr id="15" name="Text 13"/>
          <p:cNvSpPr/>
          <p:nvPr/>
        </p:nvSpPr>
        <p:spPr>
          <a:xfrm>
            <a:off x="969407" y="3532108"/>
            <a:ext cx="3534489"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Backend</a:t>
            </a:r>
            <a:endParaRPr lang="en-US" sz="1500" dirty="0"/>
          </a:p>
        </p:txBody>
      </p:sp>
      <p:sp>
        <p:nvSpPr>
          <p:cNvPr id="16" name="Text 14"/>
          <p:cNvSpPr/>
          <p:nvPr/>
        </p:nvSpPr>
        <p:spPr>
          <a:xfrm>
            <a:off x="4896088" y="3532108"/>
            <a:ext cx="8765024"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Node.js + Express.js (RESTful API)</a:t>
            </a:r>
            <a:endParaRPr lang="en-US" sz="1500" dirty="0"/>
          </a:p>
        </p:txBody>
      </p:sp>
      <p:sp>
        <p:nvSpPr>
          <p:cNvPr id="17" name="Shape 15"/>
          <p:cNvSpPr/>
          <p:nvPr/>
        </p:nvSpPr>
        <p:spPr>
          <a:xfrm>
            <a:off x="777002" y="3915251"/>
            <a:ext cx="13076396" cy="493514"/>
          </a:xfrm>
          <a:prstGeom prst="rect">
            <a:avLst/>
          </a:prstGeom>
          <a:solidFill>
            <a:srgbClr val="FFFFFF">
              <a:alpha val="4000"/>
            </a:srgbClr>
          </a:solidFill>
          <a:ln/>
        </p:spPr>
      </p:sp>
      <p:sp>
        <p:nvSpPr>
          <p:cNvPr id="18" name="Text 16"/>
          <p:cNvSpPr/>
          <p:nvPr/>
        </p:nvSpPr>
        <p:spPr>
          <a:xfrm>
            <a:off x="969407" y="4025622"/>
            <a:ext cx="3534489"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Database</a:t>
            </a:r>
            <a:endParaRPr lang="en-US" sz="1500" dirty="0"/>
          </a:p>
        </p:txBody>
      </p:sp>
      <p:sp>
        <p:nvSpPr>
          <p:cNvPr id="19" name="Text 17"/>
          <p:cNvSpPr/>
          <p:nvPr/>
        </p:nvSpPr>
        <p:spPr>
          <a:xfrm>
            <a:off x="4896088" y="4025622"/>
            <a:ext cx="8765024"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MongoDB Atlas (Cloud-hosted NoSQL)</a:t>
            </a:r>
            <a:endParaRPr lang="en-US" sz="1500" dirty="0"/>
          </a:p>
        </p:txBody>
      </p:sp>
      <p:sp>
        <p:nvSpPr>
          <p:cNvPr id="20" name="Shape 18"/>
          <p:cNvSpPr/>
          <p:nvPr/>
        </p:nvSpPr>
        <p:spPr>
          <a:xfrm>
            <a:off x="777002" y="4408765"/>
            <a:ext cx="13076396" cy="493514"/>
          </a:xfrm>
          <a:prstGeom prst="rect">
            <a:avLst/>
          </a:prstGeom>
          <a:solidFill>
            <a:srgbClr val="000000">
              <a:alpha val="4000"/>
            </a:srgbClr>
          </a:solidFill>
          <a:ln/>
        </p:spPr>
      </p:sp>
      <p:sp>
        <p:nvSpPr>
          <p:cNvPr id="21" name="Text 19"/>
          <p:cNvSpPr/>
          <p:nvPr/>
        </p:nvSpPr>
        <p:spPr>
          <a:xfrm>
            <a:off x="969407" y="4519136"/>
            <a:ext cx="3534489"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Charts</a:t>
            </a:r>
            <a:endParaRPr lang="en-US" sz="1500" dirty="0"/>
          </a:p>
        </p:txBody>
      </p:sp>
      <p:sp>
        <p:nvSpPr>
          <p:cNvPr id="22" name="Text 20"/>
          <p:cNvSpPr/>
          <p:nvPr/>
        </p:nvSpPr>
        <p:spPr>
          <a:xfrm>
            <a:off x="4896088" y="4519136"/>
            <a:ext cx="8765024"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Chart.js for Interactive Visualizations</a:t>
            </a:r>
            <a:endParaRPr lang="en-US" sz="1500" dirty="0"/>
          </a:p>
        </p:txBody>
      </p:sp>
      <p:sp>
        <p:nvSpPr>
          <p:cNvPr id="23" name="Shape 21"/>
          <p:cNvSpPr/>
          <p:nvPr/>
        </p:nvSpPr>
        <p:spPr>
          <a:xfrm>
            <a:off x="777002" y="4902279"/>
            <a:ext cx="13076396" cy="493514"/>
          </a:xfrm>
          <a:prstGeom prst="rect">
            <a:avLst/>
          </a:prstGeom>
          <a:solidFill>
            <a:srgbClr val="FFFFFF">
              <a:alpha val="4000"/>
            </a:srgbClr>
          </a:solidFill>
          <a:ln/>
        </p:spPr>
      </p:sp>
      <p:sp>
        <p:nvSpPr>
          <p:cNvPr id="24" name="Text 22"/>
          <p:cNvSpPr/>
          <p:nvPr/>
        </p:nvSpPr>
        <p:spPr>
          <a:xfrm>
            <a:off x="969407" y="5012650"/>
            <a:ext cx="3534489"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Hosting</a:t>
            </a:r>
            <a:endParaRPr lang="en-US" sz="1500" dirty="0"/>
          </a:p>
        </p:txBody>
      </p:sp>
      <p:sp>
        <p:nvSpPr>
          <p:cNvPr id="25" name="Text 23"/>
          <p:cNvSpPr/>
          <p:nvPr/>
        </p:nvSpPr>
        <p:spPr>
          <a:xfrm>
            <a:off x="4896088" y="5012650"/>
            <a:ext cx="8765024" cy="272772"/>
          </a:xfrm>
          <a:prstGeom prst="rect">
            <a:avLst/>
          </a:prstGeom>
          <a:noFill/>
          <a:ln/>
        </p:spPr>
        <p:txBody>
          <a:bodyPr wrap="non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Render Cloud + GitHub Integration</a:t>
            </a:r>
            <a:endParaRPr lang="en-US" sz="1500" dirty="0"/>
          </a:p>
        </p:txBody>
      </p:sp>
      <p:pic>
        <p:nvPicPr>
          <p:cNvPr id="26" name="Image 0" descr="preencoded.png"/>
          <p:cNvPicPr>
            <a:picLocks noChangeAspect="1"/>
          </p:cNvPicPr>
          <p:nvPr/>
        </p:nvPicPr>
        <p:blipFill>
          <a:blip r:embed="rId3"/>
          <a:stretch>
            <a:fillRect/>
          </a:stretch>
        </p:blipFill>
        <p:spPr>
          <a:xfrm>
            <a:off x="769382" y="5596057"/>
            <a:ext cx="4363879" cy="769382"/>
          </a:xfrm>
          <a:prstGeom prst="rect">
            <a:avLst/>
          </a:prstGeom>
        </p:spPr>
      </p:pic>
      <p:sp>
        <p:nvSpPr>
          <p:cNvPr id="27" name="Text 24"/>
          <p:cNvSpPr/>
          <p:nvPr/>
        </p:nvSpPr>
        <p:spPr>
          <a:xfrm>
            <a:off x="961668" y="6536650"/>
            <a:ext cx="2185749" cy="273248"/>
          </a:xfrm>
          <a:prstGeom prst="rect">
            <a:avLst/>
          </a:prstGeom>
          <a:noFill/>
          <a:ln/>
        </p:spPr>
        <p:txBody>
          <a:bodyPr wrap="none" lIns="0" tIns="0" rIns="0" bIns="0" rtlCol="0" anchor="t"/>
          <a:lstStyle/>
          <a:p>
            <a:pPr marL="0" indent="0" algn="l">
              <a:lnSpc>
                <a:spcPts val="2150"/>
              </a:lnSpc>
              <a:buNone/>
            </a:pPr>
            <a:r>
              <a:rPr lang="en-US" sz="1700" b="1" dirty="0">
                <a:solidFill>
                  <a:srgbClr val="E2E6E9"/>
                </a:solidFill>
                <a:latin typeface="Montserrat Bold" pitchFamily="34" charset="0"/>
                <a:ea typeface="Montserrat Bold" pitchFamily="34" charset="-122"/>
                <a:cs typeface="Montserrat Bold" pitchFamily="34" charset="-120"/>
              </a:rPr>
              <a:t>Browser Interface</a:t>
            </a:r>
            <a:endParaRPr lang="en-US" sz="1700" dirty="0"/>
          </a:p>
        </p:txBody>
      </p:sp>
      <p:sp>
        <p:nvSpPr>
          <p:cNvPr id="28" name="Text 25"/>
          <p:cNvSpPr/>
          <p:nvPr/>
        </p:nvSpPr>
        <p:spPr>
          <a:xfrm>
            <a:off x="961668" y="6912650"/>
            <a:ext cx="3979307" cy="545544"/>
          </a:xfrm>
          <a:prstGeom prst="rect">
            <a:avLst/>
          </a:prstGeom>
          <a:noFill/>
          <a:ln/>
        </p:spPr>
        <p:txBody>
          <a:bodyPr wrap="squar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User interacts with responsive UI built with Bootstrap components</a:t>
            </a:r>
            <a:endParaRPr lang="en-US" sz="1500" dirty="0"/>
          </a:p>
        </p:txBody>
      </p:sp>
      <p:pic>
        <p:nvPicPr>
          <p:cNvPr id="29" name="Image 1" descr="preencoded.png"/>
          <p:cNvPicPr>
            <a:picLocks noChangeAspect="1"/>
          </p:cNvPicPr>
          <p:nvPr/>
        </p:nvPicPr>
        <p:blipFill>
          <a:blip r:embed="rId4"/>
          <a:stretch>
            <a:fillRect/>
          </a:stretch>
        </p:blipFill>
        <p:spPr>
          <a:xfrm>
            <a:off x="5133261" y="5596057"/>
            <a:ext cx="4363879" cy="769382"/>
          </a:xfrm>
          <a:prstGeom prst="rect">
            <a:avLst/>
          </a:prstGeom>
        </p:spPr>
      </p:pic>
      <p:sp>
        <p:nvSpPr>
          <p:cNvPr id="30" name="Text 26"/>
          <p:cNvSpPr/>
          <p:nvPr/>
        </p:nvSpPr>
        <p:spPr>
          <a:xfrm>
            <a:off x="5325547" y="6536650"/>
            <a:ext cx="2185749" cy="273248"/>
          </a:xfrm>
          <a:prstGeom prst="rect">
            <a:avLst/>
          </a:prstGeom>
          <a:noFill/>
          <a:ln/>
        </p:spPr>
        <p:txBody>
          <a:bodyPr wrap="none" lIns="0" tIns="0" rIns="0" bIns="0" rtlCol="0" anchor="t"/>
          <a:lstStyle/>
          <a:p>
            <a:pPr marL="0" indent="0" algn="l">
              <a:lnSpc>
                <a:spcPts val="2150"/>
              </a:lnSpc>
              <a:buNone/>
            </a:pPr>
            <a:r>
              <a:rPr lang="en-US" sz="1700" b="1" dirty="0">
                <a:solidFill>
                  <a:srgbClr val="E2E6E9"/>
                </a:solidFill>
                <a:latin typeface="Montserrat Bold" pitchFamily="34" charset="0"/>
                <a:ea typeface="Montserrat Bold" pitchFamily="34" charset="-122"/>
                <a:cs typeface="Montserrat Bold" pitchFamily="34" charset="-120"/>
              </a:rPr>
              <a:t>Node.js Server</a:t>
            </a:r>
            <a:endParaRPr lang="en-US" sz="1700" dirty="0"/>
          </a:p>
        </p:txBody>
      </p:sp>
      <p:sp>
        <p:nvSpPr>
          <p:cNvPr id="31" name="Text 27"/>
          <p:cNvSpPr/>
          <p:nvPr/>
        </p:nvSpPr>
        <p:spPr>
          <a:xfrm>
            <a:off x="5325547" y="6912650"/>
            <a:ext cx="3979307" cy="545544"/>
          </a:xfrm>
          <a:prstGeom prst="rect">
            <a:avLst/>
          </a:prstGeom>
          <a:noFill/>
          <a:ln/>
        </p:spPr>
        <p:txBody>
          <a:bodyPr wrap="squar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Express handles API requests, authentication, and business logic</a:t>
            </a:r>
            <a:endParaRPr lang="en-US" sz="1500" dirty="0"/>
          </a:p>
        </p:txBody>
      </p:sp>
      <p:pic>
        <p:nvPicPr>
          <p:cNvPr id="32" name="Image 2" descr="preencoded.png"/>
          <p:cNvPicPr>
            <a:picLocks noChangeAspect="1"/>
          </p:cNvPicPr>
          <p:nvPr/>
        </p:nvPicPr>
        <p:blipFill>
          <a:blip r:embed="rId5"/>
          <a:stretch>
            <a:fillRect/>
          </a:stretch>
        </p:blipFill>
        <p:spPr>
          <a:xfrm>
            <a:off x="9497139" y="5596057"/>
            <a:ext cx="4363879" cy="769382"/>
          </a:xfrm>
          <a:prstGeom prst="rect">
            <a:avLst/>
          </a:prstGeom>
        </p:spPr>
      </p:pic>
      <p:sp>
        <p:nvSpPr>
          <p:cNvPr id="33" name="Text 28"/>
          <p:cNvSpPr/>
          <p:nvPr/>
        </p:nvSpPr>
        <p:spPr>
          <a:xfrm>
            <a:off x="9689425" y="6536650"/>
            <a:ext cx="2185749" cy="273248"/>
          </a:xfrm>
          <a:prstGeom prst="rect">
            <a:avLst/>
          </a:prstGeom>
          <a:noFill/>
          <a:ln/>
        </p:spPr>
        <p:txBody>
          <a:bodyPr wrap="none" lIns="0" tIns="0" rIns="0" bIns="0" rtlCol="0" anchor="t"/>
          <a:lstStyle/>
          <a:p>
            <a:pPr marL="0" indent="0" algn="l">
              <a:lnSpc>
                <a:spcPts val="2150"/>
              </a:lnSpc>
              <a:buNone/>
            </a:pPr>
            <a:r>
              <a:rPr lang="en-US" sz="1700" b="1" dirty="0">
                <a:solidFill>
                  <a:srgbClr val="E2E6E9"/>
                </a:solidFill>
                <a:latin typeface="Montserrat Bold" pitchFamily="34" charset="0"/>
                <a:ea typeface="Montserrat Bold" pitchFamily="34" charset="-122"/>
                <a:cs typeface="Montserrat Bold" pitchFamily="34" charset="-120"/>
              </a:rPr>
              <a:t>MongoDB Atlas</a:t>
            </a:r>
            <a:endParaRPr lang="en-US" sz="1700" dirty="0"/>
          </a:p>
        </p:txBody>
      </p:sp>
      <p:sp>
        <p:nvSpPr>
          <p:cNvPr id="34" name="Text 29"/>
          <p:cNvSpPr/>
          <p:nvPr/>
        </p:nvSpPr>
        <p:spPr>
          <a:xfrm>
            <a:off x="9689425" y="6912650"/>
            <a:ext cx="3979307" cy="545544"/>
          </a:xfrm>
          <a:prstGeom prst="rect">
            <a:avLst/>
          </a:prstGeom>
          <a:noFill/>
          <a:ln/>
        </p:spPr>
        <p:txBody>
          <a:bodyPr wrap="square" lIns="0" tIns="0" rIns="0" bIns="0" rtlCol="0" anchor="t"/>
          <a:lstStyle/>
          <a:p>
            <a:pPr marL="0" indent="0" algn="l">
              <a:lnSpc>
                <a:spcPts val="2100"/>
              </a:lnSpc>
              <a:buNone/>
            </a:pPr>
            <a:r>
              <a:rPr lang="en-US" sz="1500" dirty="0">
                <a:solidFill>
                  <a:srgbClr val="E2E6E9"/>
                </a:solidFill>
                <a:latin typeface="Source Sans 3" pitchFamily="34" charset="0"/>
                <a:ea typeface="Source Sans 3" pitchFamily="34" charset="-122"/>
                <a:cs typeface="Source Sans 3" pitchFamily="34" charset="-120"/>
              </a:rPr>
              <a:t>Data persistence in AWS Mumbai region with automatic backups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871901" y="521375"/>
            <a:ext cx="3451265" cy="431363"/>
          </a:xfrm>
          <a:prstGeom prst="rect">
            <a:avLst/>
          </a:prstGeom>
          <a:noFill/>
          <a:ln/>
        </p:spPr>
        <p:txBody>
          <a:bodyPr wrap="none" lIns="0" tIns="0" rIns="0" bIns="0" rtlCol="0" anchor="t"/>
          <a:lstStyle/>
          <a:p>
            <a:pPr marL="0" indent="0" algn="l">
              <a:lnSpc>
                <a:spcPts val="3350"/>
              </a:lnSpc>
              <a:buNone/>
            </a:pPr>
            <a:r>
              <a:rPr lang="en-US" sz="2700" b="1" dirty="0">
                <a:solidFill>
                  <a:srgbClr val="FFFFFF"/>
                </a:solidFill>
                <a:latin typeface="Montserrat Bold" pitchFamily="34" charset="0"/>
                <a:ea typeface="Montserrat Bold" pitchFamily="34" charset="-122"/>
                <a:cs typeface="Montserrat Bold" pitchFamily="34" charset="-120"/>
              </a:rPr>
              <a:t>Core Features</a:t>
            </a:r>
            <a:endParaRPr lang="en-US" sz="2700" dirty="0"/>
          </a:p>
        </p:txBody>
      </p:sp>
      <p:sp>
        <p:nvSpPr>
          <p:cNvPr id="3" name="Shape 1"/>
          <p:cNvSpPr/>
          <p:nvPr/>
        </p:nvSpPr>
        <p:spPr>
          <a:xfrm>
            <a:off x="1871901" y="1166217"/>
            <a:ext cx="10886480" cy="1001435"/>
          </a:xfrm>
          <a:prstGeom prst="roundRect">
            <a:avLst>
              <a:gd name="adj" fmla="val 2275"/>
            </a:avLst>
          </a:prstGeom>
          <a:solidFill>
            <a:srgbClr val="111213"/>
          </a:solidFill>
          <a:ln w="15240">
            <a:solidFill>
              <a:srgbClr val="494A4B"/>
            </a:solidFill>
            <a:prstDash val="solid"/>
          </a:ln>
        </p:spPr>
      </p:sp>
      <p:sp>
        <p:nvSpPr>
          <p:cNvPr id="4" name="Shape 2"/>
          <p:cNvSpPr/>
          <p:nvPr/>
        </p:nvSpPr>
        <p:spPr>
          <a:xfrm>
            <a:off x="1887141" y="1181457"/>
            <a:ext cx="607338" cy="970955"/>
          </a:xfrm>
          <a:prstGeom prst="roundRect">
            <a:avLst>
              <a:gd name="adj" fmla="val 739"/>
            </a:avLst>
          </a:prstGeom>
          <a:solidFill>
            <a:srgbClr val="303132"/>
          </a:solidFill>
          <a:ln/>
        </p:spPr>
      </p:sp>
      <p:sp>
        <p:nvSpPr>
          <p:cNvPr id="5" name="Text 3"/>
          <p:cNvSpPr/>
          <p:nvPr/>
        </p:nvSpPr>
        <p:spPr>
          <a:xfrm>
            <a:off x="2076926" y="1524595"/>
            <a:ext cx="227767" cy="284678"/>
          </a:xfrm>
          <a:prstGeom prst="rect">
            <a:avLst/>
          </a:prstGeom>
          <a:noFill/>
          <a:ln/>
        </p:spPr>
        <p:txBody>
          <a:bodyPr wrap="none" lIns="0" tIns="0" rIns="0" bIns="0" rtlCol="0" anchor="ctr"/>
          <a:lstStyle/>
          <a:p>
            <a:pPr marL="0" indent="0" algn="ctr">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1</a:t>
            </a:r>
            <a:endParaRPr lang="en-US" sz="1750" dirty="0"/>
          </a:p>
        </p:txBody>
      </p:sp>
      <p:sp>
        <p:nvSpPr>
          <p:cNvPr id="6" name="Text 4"/>
          <p:cNvSpPr/>
          <p:nvPr/>
        </p:nvSpPr>
        <p:spPr>
          <a:xfrm>
            <a:off x="2601158" y="1333262"/>
            <a:ext cx="1824990" cy="215622"/>
          </a:xfrm>
          <a:prstGeom prst="rect">
            <a:avLst/>
          </a:prstGeom>
          <a:noFill/>
          <a:ln/>
        </p:spPr>
        <p:txBody>
          <a:bodyPr wrap="none" lIns="0" tIns="0" rIns="0" bIns="0" rtlCol="0" anchor="t"/>
          <a:lstStyle/>
          <a:p>
            <a:pPr marL="0" indent="0" algn="l">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User Authentication</a:t>
            </a:r>
            <a:endParaRPr lang="en-US" sz="1350" dirty="0"/>
          </a:p>
        </p:txBody>
      </p:sp>
      <p:sp>
        <p:nvSpPr>
          <p:cNvPr id="7" name="Text 5"/>
          <p:cNvSpPr/>
          <p:nvPr/>
        </p:nvSpPr>
        <p:spPr>
          <a:xfrm>
            <a:off x="2601158" y="1612940"/>
            <a:ext cx="9990177" cy="387668"/>
          </a:xfrm>
          <a:prstGeom prst="rect">
            <a:avLst/>
          </a:prstGeom>
          <a:noFill/>
          <a:ln/>
        </p:spPr>
        <p:txBody>
          <a:bodyPr wrap="square" lIns="0" tIns="0" rIns="0" bIns="0" rtlCol="0" anchor="t"/>
          <a:lstStyle/>
          <a:p>
            <a:pPr marL="0" indent="0" algn="l">
              <a:lnSpc>
                <a:spcPts val="1500"/>
              </a:lnSpc>
              <a:buNone/>
            </a:pPr>
            <a:r>
              <a:rPr lang="en-US" sz="1150" dirty="0">
                <a:solidFill>
                  <a:srgbClr val="E2E6E9"/>
                </a:solidFill>
                <a:latin typeface="Source Sans 3" pitchFamily="34" charset="0"/>
                <a:ea typeface="Source Sans 3" pitchFamily="34" charset="-122"/>
                <a:cs typeface="Source Sans 3" pitchFamily="34" charset="-120"/>
              </a:rPr>
              <a:t>Secure sign-up, login, and logout functionality with session management. Passwords are hashed using bcrypt for security. Users can recover accounts and update profile information.</a:t>
            </a:r>
            <a:endParaRPr lang="en-US" sz="1150" dirty="0"/>
          </a:p>
        </p:txBody>
      </p:sp>
      <p:sp>
        <p:nvSpPr>
          <p:cNvPr id="8" name="Shape 6"/>
          <p:cNvSpPr/>
          <p:nvPr/>
        </p:nvSpPr>
        <p:spPr>
          <a:xfrm>
            <a:off x="1871901" y="2274332"/>
            <a:ext cx="10886480" cy="1001435"/>
          </a:xfrm>
          <a:prstGeom prst="roundRect">
            <a:avLst>
              <a:gd name="adj" fmla="val 2275"/>
            </a:avLst>
          </a:prstGeom>
          <a:solidFill>
            <a:srgbClr val="111213"/>
          </a:solidFill>
          <a:ln w="15240">
            <a:solidFill>
              <a:srgbClr val="494A4B"/>
            </a:solidFill>
            <a:prstDash val="solid"/>
          </a:ln>
        </p:spPr>
      </p:sp>
      <p:sp>
        <p:nvSpPr>
          <p:cNvPr id="9" name="Shape 7"/>
          <p:cNvSpPr/>
          <p:nvPr/>
        </p:nvSpPr>
        <p:spPr>
          <a:xfrm>
            <a:off x="1887141" y="2289572"/>
            <a:ext cx="607338" cy="970955"/>
          </a:xfrm>
          <a:prstGeom prst="roundRect">
            <a:avLst>
              <a:gd name="adj" fmla="val 739"/>
            </a:avLst>
          </a:prstGeom>
          <a:solidFill>
            <a:srgbClr val="303132"/>
          </a:solidFill>
          <a:ln/>
        </p:spPr>
      </p:sp>
      <p:sp>
        <p:nvSpPr>
          <p:cNvPr id="10" name="Text 8"/>
          <p:cNvSpPr/>
          <p:nvPr/>
        </p:nvSpPr>
        <p:spPr>
          <a:xfrm>
            <a:off x="2076926" y="2632710"/>
            <a:ext cx="227767" cy="284678"/>
          </a:xfrm>
          <a:prstGeom prst="rect">
            <a:avLst/>
          </a:prstGeom>
          <a:noFill/>
          <a:ln/>
        </p:spPr>
        <p:txBody>
          <a:bodyPr wrap="none" lIns="0" tIns="0" rIns="0" bIns="0" rtlCol="0" anchor="ctr"/>
          <a:lstStyle/>
          <a:p>
            <a:pPr marL="0" indent="0" algn="ctr">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2</a:t>
            </a:r>
            <a:endParaRPr lang="en-US" sz="1750" dirty="0"/>
          </a:p>
        </p:txBody>
      </p:sp>
      <p:sp>
        <p:nvSpPr>
          <p:cNvPr id="11" name="Text 9"/>
          <p:cNvSpPr/>
          <p:nvPr/>
        </p:nvSpPr>
        <p:spPr>
          <a:xfrm>
            <a:off x="2601158" y="2441377"/>
            <a:ext cx="1972032" cy="215622"/>
          </a:xfrm>
          <a:prstGeom prst="rect">
            <a:avLst/>
          </a:prstGeom>
          <a:noFill/>
          <a:ln/>
        </p:spPr>
        <p:txBody>
          <a:bodyPr wrap="none" lIns="0" tIns="0" rIns="0" bIns="0" rtlCol="0" anchor="t"/>
          <a:lstStyle/>
          <a:p>
            <a:pPr marL="0" indent="0" algn="l">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Smart Task Scheduler</a:t>
            </a:r>
            <a:endParaRPr lang="en-US" sz="1350" dirty="0"/>
          </a:p>
        </p:txBody>
      </p:sp>
      <p:sp>
        <p:nvSpPr>
          <p:cNvPr id="12" name="Text 10"/>
          <p:cNvSpPr/>
          <p:nvPr/>
        </p:nvSpPr>
        <p:spPr>
          <a:xfrm>
            <a:off x="2601158" y="2721054"/>
            <a:ext cx="9990177" cy="387668"/>
          </a:xfrm>
          <a:prstGeom prst="rect">
            <a:avLst/>
          </a:prstGeom>
          <a:noFill/>
          <a:ln/>
        </p:spPr>
        <p:txBody>
          <a:bodyPr wrap="square" lIns="0" tIns="0" rIns="0" bIns="0" rtlCol="0" anchor="t"/>
          <a:lstStyle/>
          <a:p>
            <a:pPr marL="0" indent="0" algn="l">
              <a:lnSpc>
                <a:spcPts val="1500"/>
              </a:lnSpc>
              <a:buNone/>
            </a:pPr>
            <a:r>
              <a:rPr lang="en-US" sz="1150" dirty="0">
                <a:solidFill>
                  <a:srgbClr val="E2E6E9"/>
                </a:solidFill>
                <a:latin typeface="Source Sans 3" pitchFamily="34" charset="0"/>
                <a:ea typeface="Source Sans 3" pitchFamily="34" charset="-122"/>
                <a:cs typeface="Source Sans 3" pitchFamily="34" charset="-120"/>
              </a:rPr>
              <a:t>Add, edit, and delete academic tasks with custom fields including priority levels, deadlines, subject categories, and estimated study hours. Tasks are automatically sorted by urgency.</a:t>
            </a:r>
            <a:endParaRPr lang="en-US" sz="1150" dirty="0"/>
          </a:p>
        </p:txBody>
      </p:sp>
      <p:sp>
        <p:nvSpPr>
          <p:cNvPr id="13" name="Shape 11"/>
          <p:cNvSpPr/>
          <p:nvPr/>
        </p:nvSpPr>
        <p:spPr>
          <a:xfrm>
            <a:off x="1871901" y="3382447"/>
            <a:ext cx="10886480" cy="1001435"/>
          </a:xfrm>
          <a:prstGeom prst="roundRect">
            <a:avLst>
              <a:gd name="adj" fmla="val 2275"/>
            </a:avLst>
          </a:prstGeom>
          <a:solidFill>
            <a:srgbClr val="111213"/>
          </a:solidFill>
          <a:ln w="15240">
            <a:solidFill>
              <a:srgbClr val="494A4B"/>
            </a:solidFill>
            <a:prstDash val="solid"/>
          </a:ln>
        </p:spPr>
      </p:sp>
      <p:sp>
        <p:nvSpPr>
          <p:cNvPr id="14" name="Shape 12"/>
          <p:cNvSpPr/>
          <p:nvPr/>
        </p:nvSpPr>
        <p:spPr>
          <a:xfrm>
            <a:off x="1887141" y="3397687"/>
            <a:ext cx="607338" cy="970955"/>
          </a:xfrm>
          <a:prstGeom prst="roundRect">
            <a:avLst>
              <a:gd name="adj" fmla="val 739"/>
            </a:avLst>
          </a:prstGeom>
          <a:solidFill>
            <a:srgbClr val="303132"/>
          </a:solidFill>
          <a:ln/>
        </p:spPr>
      </p:sp>
      <p:sp>
        <p:nvSpPr>
          <p:cNvPr id="15" name="Text 13"/>
          <p:cNvSpPr/>
          <p:nvPr/>
        </p:nvSpPr>
        <p:spPr>
          <a:xfrm>
            <a:off x="2076926" y="3740825"/>
            <a:ext cx="227767" cy="284678"/>
          </a:xfrm>
          <a:prstGeom prst="rect">
            <a:avLst/>
          </a:prstGeom>
          <a:noFill/>
          <a:ln/>
        </p:spPr>
        <p:txBody>
          <a:bodyPr wrap="none" lIns="0" tIns="0" rIns="0" bIns="0" rtlCol="0" anchor="ctr"/>
          <a:lstStyle/>
          <a:p>
            <a:pPr marL="0" indent="0" algn="ctr">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3</a:t>
            </a:r>
            <a:endParaRPr lang="en-US" sz="1750" dirty="0"/>
          </a:p>
        </p:txBody>
      </p:sp>
      <p:sp>
        <p:nvSpPr>
          <p:cNvPr id="16" name="Text 14"/>
          <p:cNvSpPr/>
          <p:nvPr/>
        </p:nvSpPr>
        <p:spPr>
          <a:xfrm>
            <a:off x="2601158" y="3549491"/>
            <a:ext cx="2102882" cy="215622"/>
          </a:xfrm>
          <a:prstGeom prst="rect">
            <a:avLst/>
          </a:prstGeom>
          <a:noFill/>
          <a:ln/>
        </p:spPr>
        <p:txBody>
          <a:bodyPr wrap="none" lIns="0" tIns="0" rIns="0" bIns="0" rtlCol="0" anchor="t"/>
          <a:lstStyle/>
          <a:p>
            <a:pPr marL="0" indent="0" algn="l">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Pomodoro Focus Timer</a:t>
            </a:r>
            <a:endParaRPr lang="en-US" sz="1350" dirty="0"/>
          </a:p>
        </p:txBody>
      </p:sp>
      <p:sp>
        <p:nvSpPr>
          <p:cNvPr id="17" name="Text 15"/>
          <p:cNvSpPr/>
          <p:nvPr/>
        </p:nvSpPr>
        <p:spPr>
          <a:xfrm>
            <a:off x="2601158" y="3829169"/>
            <a:ext cx="9990177" cy="387668"/>
          </a:xfrm>
          <a:prstGeom prst="rect">
            <a:avLst/>
          </a:prstGeom>
          <a:noFill/>
          <a:ln/>
        </p:spPr>
        <p:txBody>
          <a:bodyPr wrap="square" lIns="0" tIns="0" rIns="0" bIns="0" rtlCol="0" anchor="t"/>
          <a:lstStyle/>
          <a:p>
            <a:pPr marL="0" indent="0" algn="l">
              <a:lnSpc>
                <a:spcPts val="1500"/>
              </a:lnSpc>
              <a:buNone/>
            </a:pPr>
            <a:r>
              <a:rPr lang="en-US" sz="1150" dirty="0">
                <a:solidFill>
                  <a:srgbClr val="E2E6E9"/>
                </a:solidFill>
                <a:latin typeface="Source Sans 3" pitchFamily="34" charset="0"/>
                <a:ea typeface="Source Sans 3" pitchFamily="34" charset="-122"/>
                <a:cs typeface="Source Sans 3" pitchFamily="34" charset="-120"/>
              </a:rPr>
              <a:t>25-minute study sessions with 5-minute breaks, featuring streak-based gamification. Track consecutive completed sessions and maintain productivity momentum with visual streak counters.</a:t>
            </a:r>
            <a:endParaRPr lang="en-US" sz="1150" dirty="0"/>
          </a:p>
        </p:txBody>
      </p:sp>
      <p:sp>
        <p:nvSpPr>
          <p:cNvPr id="18" name="Shape 16"/>
          <p:cNvSpPr/>
          <p:nvPr/>
        </p:nvSpPr>
        <p:spPr>
          <a:xfrm>
            <a:off x="1871901" y="4490561"/>
            <a:ext cx="10886480" cy="1001435"/>
          </a:xfrm>
          <a:prstGeom prst="roundRect">
            <a:avLst>
              <a:gd name="adj" fmla="val 2275"/>
            </a:avLst>
          </a:prstGeom>
          <a:solidFill>
            <a:srgbClr val="111213"/>
          </a:solidFill>
          <a:ln w="15240">
            <a:solidFill>
              <a:srgbClr val="494A4B"/>
            </a:solidFill>
            <a:prstDash val="solid"/>
          </a:ln>
        </p:spPr>
      </p:sp>
      <p:sp>
        <p:nvSpPr>
          <p:cNvPr id="19" name="Shape 17"/>
          <p:cNvSpPr/>
          <p:nvPr/>
        </p:nvSpPr>
        <p:spPr>
          <a:xfrm>
            <a:off x="1887141" y="4505801"/>
            <a:ext cx="607338" cy="970955"/>
          </a:xfrm>
          <a:prstGeom prst="roundRect">
            <a:avLst>
              <a:gd name="adj" fmla="val 739"/>
            </a:avLst>
          </a:prstGeom>
          <a:solidFill>
            <a:srgbClr val="303132"/>
          </a:solidFill>
          <a:ln/>
        </p:spPr>
      </p:sp>
      <p:sp>
        <p:nvSpPr>
          <p:cNvPr id="20" name="Text 18"/>
          <p:cNvSpPr/>
          <p:nvPr/>
        </p:nvSpPr>
        <p:spPr>
          <a:xfrm>
            <a:off x="2076926" y="4848939"/>
            <a:ext cx="227767" cy="284678"/>
          </a:xfrm>
          <a:prstGeom prst="rect">
            <a:avLst/>
          </a:prstGeom>
          <a:noFill/>
          <a:ln/>
        </p:spPr>
        <p:txBody>
          <a:bodyPr wrap="none" lIns="0" tIns="0" rIns="0" bIns="0" rtlCol="0" anchor="ctr"/>
          <a:lstStyle/>
          <a:p>
            <a:pPr marL="0" indent="0" algn="ctr">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4</a:t>
            </a:r>
            <a:endParaRPr lang="en-US" sz="1750" dirty="0"/>
          </a:p>
        </p:txBody>
      </p:sp>
      <p:sp>
        <p:nvSpPr>
          <p:cNvPr id="21" name="Text 19"/>
          <p:cNvSpPr/>
          <p:nvPr/>
        </p:nvSpPr>
        <p:spPr>
          <a:xfrm>
            <a:off x="2601158" y="4657606"/>
            <a:ext cx="1869877" cy="215622"/>
          </a:xfrm>
          <a:prstGeom prst="rect">
            <a:avLst/>
          </a:prstGeom>
          <a:noFill/>
          <a:ln/>
        </p:spPr>
        <p:txBody>
          <a:bodyPr wrap="none" lIns="0" tIns="0" rIns="0" bIns="0" rtlCol="0" anchor="t"/>
          <a:lstStyle/>
          <a:p>
            <a:pPr marL="0" indent="0" algn="l">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Calendar Integration</a:t>
            </a:r>
            <a:endParaRPr lang="en-US" sz="1350" dirty="0"/>
          </a:p>
        </p:txBody>
      </p:sp>
      <p:sp>
        <p:nvSpPr>
          <p:cNvPr id="22" name="Text 20"/>
          <p:cNvSpPr/>
          <p:nvPr/>
        </p:nvSpPr>
        <p:spPr>
          <a:xfrm>
            <a:off x="2601158" y="4937284"/>
            <a:ext cx="9990177" cy="387668"/>
          </a:xfrm>
          <a:prstGeom prst="rect">
            <a:avLst/>
          </a:prstGeom>
          <a:noFill/>
          <a:ln/>
        </p:spPr>
        <p:txBody>
          <a:bodyPr wrap="square" lIns="0" tIns="0" rIns="0" bIns="0" rtlCol="0" anchor="t"/>
          <a:lstStyle/>
          <a:p>
            <a:pPr marL="0" indent="0" algn="l">
              <a:lnSpc>
                <a:spcPts val="1500"/>
              </a:lnSpc>
              <a:buNone/>
            </a:pPr>
            <a:r>
              <a:rPr lang="en-US" sz="1150" dirty="0">
                <a:solidFill>
                  <a:srgbClr val="E2E6E9"/>
                </a:solidFill>
                <a:latin typeface="Source Sans 3" pitchFamily="34" charset="0"/>
                <a:ea typeface="Source Sans 3" pitchFamily="34" charset="-122"/>
                <a:cs typeface="Source Sans 3" pitchFamily="34" charset="-120"/>
              </a:rPr>
              <a:t>Export tasks as .ics files compatible with Google Calendar and Apple Calendar. Sync deadlines across devices and receive native calendar notifications for upcoming due dates.</a:t>
            </a:r>
            <a:endParaRPr lang="en-US" sz="1150" dirty="0"/>
          </a:p>
        </p:txBody>
      </p:sp>
      <p:sp>
        <p:nvSpPr>
          <p:cNvPr id="23" name="Shape 21"/>
          <p:cNvSpPr/>
          <p:nvPr/>
        </p:nvSpPr>
        <p:spPr>
          <a:xfrm>
            <a:off x="1871901" y="5598676"/>
            <a:ext cx="10886480" cy="1001435"/>
          </a:xfrm>
          <a:prstGeom prst="roundRect">
            <a:avLst>
              <a:gd name="adj" fmla="val 2275"/>
            </a:avLst>
          </a:prstGeom>
          <a:solidFill>
            <a:srgbClr val="111213"/>
          </a:solidFill>
          <a:ln w="15240">
            <a:solidFill>
              <a:srgbClr val="494A4B"/>
            </a:solidFill>
            <a:prstDash val="solid"/>
          </a:ln>
        </p:spPr>
      </p:sp>
      <p:sp>
        <p:nvSpPr>
          <p:cNvPr id="24" name="Shape 22"/>
          <p:cNvSpPr/>
          <p:nvPr/>
        </p:nvSpPr>
        <p:spPr>
          <a:xfrm>
            <a:off x="1887141" y="5613916"/>
            <a:ext cx="607338" cy="970955"/>
          </a:xfrm>
          <a:prstGeom prst="roundRect">
            <a:avLst>
              <a:gd name="adj" fmla="val 739"/>
            </a:avLst>
          </a:prstGeom>
          <a:solidFill>
            <a:srgbClr val="303132"/>
          </a:solidFill>
          <a:ln/>
        </p:spPr>
      </p:sp>
      <p:sp>
        <p:nvSpPr>
          <p:cNvPr id="25" name="Text 23"/>
          <p:cNvSpPr/>
          <p:nvPr/>
        </p:nvSpPr>
        <p:spPr>
          <a:xfrm>
            <a:off x="2076926" y="5957054"/>
            <a:ext cx="227767" cy="284678"/>
          </a:xfrm>
          <a:prstGeom prst="rect">
            <a:avLst/>
          </a:prstGeom>
          <a:noFill/>
          <a:ln/>
        </p:spPr>
        <p:txBody>
          <a:bodyPr wrap="none" lIns="0" tIns="0" rIns="0" bIns="0" rtlCol="0" anchor="ctr"/>
          <a:lstStyle/>
          <a:p>
            <a:pPr marL="0" indent="0" algn="ctr">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5</a:t>
            </a:r>
            <a:endParaRPr lang="en-US" sz="1750" dirty="0"/>
          </a:p>
        </p:txBody>
      </p:sp>
      <p:sp>
        <p:nvSpPr>
          <p:cNvPr id="26" name="Text 24"/>
          <p:cNvSpPr/>
          <p:nvPr/>
        </p:nvSpPr>
        <p:spPr>
          <a:xfrm>
            <a:off x="2601158" y="5765721"/>
            <a:ext cx="2058710" cy="215622"/>
          </a:xfrm>
          <a:prstGeom prst="rect">
            <a:avLst/>
          </a:prstGeom>
          <a:noFill/>
          <a:ln/>
        </p:spPr>
        <p:txBody>
          <a:bodyPr wrap="none" lIns="0" tIns="0" rIns="0" bIns="0" rtlCol="0" anchor="t"/>
          <a:lstStyle/>
          <a:p>
            <a:pPr marL="0" indent="0" algn="l">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Performance Analytics</a:t>
            </a:r>
            <a:endParaRPr lang="en-US" sz="1350" dirty="0"/>
          </a:p>
        </p:txBody>
      </p:sp>
      <p:sp>
        <p:nvSpPr>
          <p:cNvPr id="27" name="Text 25"/>
          <p:cNvSpPr/>
          <p:nvPr/>
        </p:nvSpPr>
        <p:spPr>
          <a:xfrm>
            <a:off x="2601158" y="6045398"/>
            <a:ext cx="9990177" cy="387668"/>
          </a:xfrm>
          <a:prstGeom prst="rect">
            <a:avLst/>
          </a:prstGeom>
          <a:noFill/>
          <a:ln/>
        </p:spPr>
        <p:txBody>
          <a:bodyPr wrap="square" lIns="0" tIns="0" rIns="0" bIns="0" rtlCol="0" anchor="t"/>
          <a:lstStyle/>
          <a:p>
            <a:pPr marL="0" indent="0" algn="l">
              <a:lnSpc>
                <a:spcPts val="1500"/>
              </a:lnSpc>
              <a:buNone/>
            </a:pPr>
            <a:r>
              <a:rPr lang="en-US" sz="1150" dirty="0">
                <a:solidFill>
                  <a:srgbClr val="E2E6E9"/>
                </a:solidFill>
                <a:latin typeface="Source Sans 3" pitchFamily="34" charset="0"/>
                <a:ea typeface="Source Sans 3" pitchFamily="34" charset="-122"/>
                <a:cs typeface="Source Sans 3" pitchFamily="34" charset="-120"/>
              </a:rPr>
              <a:t>Interactive bar charts display completion statistics while doughnut charts visualize time distribution across subjects. Charts update in real-time as tasks are added or marked complete.</a:t>
            </a:r>
            <a:endParaRPr lang="en-US" sz="1150" dirty="0"/>
          </a:p>
        </p:txBody>
      </p:sp>
      <p:sp>
        <p:nvSpPr>
          <p:cNvPr id="28" name="Shape 26"/>
          <p:cNvSpPr/>
          <p:nvPr/>
        </p:nvSpPr>
        <p:spPr>
          <a:xfrm>
            <a:off x="1871901" y="6706791"/>
            <a:ext cx="10886480" cy="1001435"/>
          </a:xfrm>
          <a:prstGeom prst="roundRect">
            <a:avLst>
              <a:gd name="adj" fmla="val 2275"/>
            </a:avLst>
          </a:prstGeom>
          <a:solidFill>
            <a:srgbClr val="111213"/>
          </a:solidFill>
          <a:ln w="15240">
            <a:solidFill>
              <a:srgbClr val="494A4B"/>
            </a:solidFill>
            <a:prstDash val="solid"/>
          </a:ln>
        </p:spPr>
      </p:sp>
      <p:sp>
        <p:nvSpPr>
          <p:cNvPr id="29" name="Shape 27"/>
          <p:cNvSpPr/>
          <p:nvPr/>
        </p:nvSpPr>
        <p:spPr>
          <a:xfrm>
            <a:off x="1887141" y="6722031"/>
            <a:ext cx="607338" cy="970955"/>
          </a:xfrm>
          <a:prstGeom prst="roundRect">
            <a:avLst>
              <a:gd name="adj" fmla="val 739"/>
            </a:avLst>
          </a:prstGeom>
          <a:solidFill>
            <a:srgbClr val="303132"/>
          </a:solidFill>
          <a:ln/>
        </p:spPr>
      </p:sp>
      <p:sp>
        <p:nvSpPr>
          <p:cNvPr id="30" name="Text 28"/>
          <p:cNvSpPr/>
          <p:nvPr/>
        </p:nvSpPr>
        <p:spPr>
          <a:xfrm>
            <a:off x="2076926" y="7065169"/>
            <a:ext cx="227767" cy="284678"/>
          </a:xfrm>
          <a:prstGeom prst="rect">
            <a:avLst/>
          </a:prstGeom>
          <a:noFill/>
          <a:ln/>
        </p:spPr>
        <p:txBody>
          <a:bodyPr wrap="none" lIns="0" tIns="0" rIns="0" bIns="0" rtlCol="0" anchor="ctr"/>
          <a:lstStyle/>
          <a:p>
            <a:pPr marL="0" indent="0" algn="ctr">
              <a:lnSpc>
                <a:spcPts val="1750"/>
              </a:lnSpc>
              <a:buNone/>
            </a:pPr>
            <a:r>
              <a:rPr lang="en-US" sz="1750" b="1" dirty="0">
                <a:solidFill>
                  <a:srgbClr val="E2E6E9"/>
                </a:solidFill>
                <a:latin typeface="Montserrat Bold" pitchFamily="34" charset="0"/>
                <a:ea typeface="Montserrat Bold" pitchFamily="34" charset="-122"/>
                <a:cs typeface="Montserrat Bold" pitchFamily="34" charset="-120"/>
              </a:rPr>
              <a:t>6</a:t>
            </a:r>
            <a:endParaRPr lang="en-US" sz="1750" dirty="0"/>
          </a:p>
        </p:txBody>
      </p:sp>
      <p:sp>
        <p:nvSpPr>
          <p:cNvPr id="31" name="Text 29"/>
          <p:cNvSpPr/>
          <p:nvPr/>
        </p:nvSpPr>
        <p:spPr>
          <a:xfrm>
            <a:off x="2601158" y="6873835"/>
            <a:ext cx="1725573" cy="215622"/>
          </a:xfrm>
          <a:prstGeom prst="rect">
            <a:avLst/>
          </a:prstGeom>
          <a:noFill/>
          <a:ln/>
        </p:spPr>
        <p:txBody>
          <a:bodyPr wrap="none" lIns="0" tIns="0" rIns="0" bIns="0" rtlCol="0" anchor="t"/>
          <a:lstStyle/>
          <a:p>
            <a:pPr marL="0" indent="0" algn="l">
              <a:lnSpc>
                <a:spcPts val="1650"/>
              </a:lnSpc>
              <a:buNone/>
            </a:pPr>
            <a:r>
              <a:rPr lang="en-US" sz="1350" b="1" dirty="0">
                <a:solidFill>
                  <a:srgbClr val="E2E6E9"/>
                </a:solidFill>
                <a:latin typeface="Montserrat Bold" pitchFamily="34" charset="0"/>
                <a:ea typeface="Montserrat Bold" pitchFamily="34" charset="-122"/>
                <a:cs typeface="Montserrat Bold" pitchFamily="34" charset="-120"/>
              </a:rPr>
              <a:t>Notes &amp; Flashcards</a:t>
            </a:r>
            <a:endParaRPr lang="en-US" sz="1350" dirty="0"/>
          </a:p>
        </p:txBody>
      </p:sp>
      <p:sp>
        <p:nvSpPr>
          <p:cNvPr id="32" name="Text 30"/>
          <p:cNvSpPr/>
          <p:nvPr/>
        </p:nvSpPr>
        <p:spPr>
          <a:xfrm>
            <a:off x="2601158" y="7153513"/>
            <a:ext cx="9990177" cy="387668"/>
          </a:xfrm>
          <a:prstGeom prst="rect">
            <a:avLst/>
          </a:prstGeom>
          <a:noFill/>
          <a:ln/>
        </p:spPr>
        <p:txBody>
          <a:bodyPr wrap="square" lIns="0" tIns="0" rIns="0" bIns="0" rtlCol="0" anchor="t"/>
          <a:lstStyle/>
          <a:p>
            <a:pPr marL="0" indent="0" algn="l">
              <a:lnSpc>
                <a:spcPts val="1500"/>
              </a:lnSpc>
              <a:buNone/>
            </a:pPr>
            <a:r>
              <a:rPr lang="en-US" sz="1150" dirty="0">
                <a:solidFill>
                  <a:srgbClr val="E2E6E9"/>
                </a:solidFill>
                <a:latin typeface="Source Sans 3" pitchFamily="34" charset="0"/>
                <a:ea typeface="Source Sans 3" pitchFamily="34" charset="-122"/>
                <a:cs typeface="Source Sans 3" pitchFamily="34" charset="-120"/>
              </a:rPr>
              <a:t>Full-page auto-saving notes system with rich text formatting. Create Q&amp;A flashcards for active recall studying, exportable as study materials for exam preparation.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82836" y="581263"/>
            <a:ext cx="6742152" cy="556022"/>
          </a:xfrm>
          <a:prstGeom prst="rect">
            <a:avLst/>
          </a:prstGeom>
          <a:noFill/>
          <a:ln/>
        </p:spPr>
        <p:txBody>
          <a:bodyPr wrap="none" lIns="0" tIns="0" rIns="0" bIns="0" rtlCol="0" anchor="t"/>
          <a:lstStyle/>
          <a:p>
            <a:pPr marL="0" indent="0" algn="l">
              <a:lnSpc>
                <a:spcPts val="4350"/>
              </a:lnSpc>
              <a:buNone/>
            </a:pPr>
            <a:r>
              <a:rPr lang="en-US" sz="3500" b="1" dirty="0">
                <a:solidFill>
                  <a:srgbClr val="FFFFFF"/>
                </a:solidFill>
                <a:latin typeface="Montserrat Bold" pitchFamily="34" charset="0"/>
                <a:ea typeface="Montserrat Bold" pitchFamily="34" charset="-122"/>
                <a:cs typeface="Montserrat Bold" pitchFamily="34" charset="-120"/>
              </a:rPr>
              <a:t>Intelligent Priority Algorithm</a:t>
            </a:r>
            <a:endParaRPr lang="en-US" sz="3500" dirty="0"/>
          </a:p>
        </p:txBody>
      </p:sp>
      <p:sp>
        <p:nvSpPr>
          <p:cNvPr id="3" name="Text 1"/>
          <p:cNvSpPr/>
          <p:nvPr/>
        </p:nvSpPr>
        <p:spPr>
          <a:xfrm>
            <a:off x="782836" y="1491972"/>
            <a:ext cx="13064728"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The application automatically sorts tasks using a dynamic Urgency Score calculation that considers both priority level and deadline proximity.</a:t>
            </a:r>
            <a:endParaRPr lang="en-US" sz="1500" dirty="0"/>
          </a:p>
        </p:txBody>
      </p:sp>
      <p:sp>
        <p:nvSpPr>
          <p:cNvPr id="4" name="Shape 2"/>
          <p:cNvSpPr/>
          <p:nvPr/>
        </p:nvSpPr>
        <p:spPr>
          <a:xfrm>
            <a:off x="782836" y="1971318"/>
            <a:ext cx="4236720" cy="2765465"/>
          </a:xfrm>
          <a:prstGeom prst="roundRect">
            <a:avLst>
              <a:gd name="adj" fmla="val 1062"/>
            </a:avLst>
          </a:prstGeom>
          <a:solidFill>
            <a:srgbClr val="303132"/>
          </a:solidFill>
          <a:ln/>
        </p:spPr>
      </p:sp>
      <p:sp>
        <p:nvSpPr>
          <p:cNvPr id="5" name="Shape 3"/>
          <p:cNvSpPr/>
          <p:nvPr/>
        </p:nvSpPr>
        <p:spPr>
          <a:xfrm>
            <a:off x="978456" y="2166938"/>
            <a:ext cx="587097" cy="587097"/>
          </a:xfrm>
          <a:prstGeom prst="roundRect">
            <a:avLst>
              <a:gd name="adj" fmla="val 15573382"/>
            </a:avLst>
          </a:prstGeom>
          <a:solidFill>
            <a:srgbClr val="FFFFFF"/>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39904" y="2328267"/>
            <a:ext cx="264200" cy="264200"/>
          </a:xfrm>
          <a:prstGeom prst="rect">
            <a:avLst/>
          </a:prstGeom>
        </p:spPr>
      </p:pic>
      <p:sp>
        <p:nvSpPr>
          <p:cNvPr id="7" name="Text 4"/>
          <p:cNvSpPr/>
          <p:nvPr/>
        </p:nvSpPr>
        <p:spPr>
          <a:xfrm>
            <a:off x="978456" y="2931319"/>
            <a:ext cx="2730222" cy="278011"/>
          </a:xfrm>
          <a:prstGeom prst="rect">
            <a:avLst/>
          </a:prstGeom>
          <a:noFill/>
          <a:ln/>
        </p:spPr>
        <p:txBody>
          <a:bodyPr wrap="none" lIns="0" tIns="0" rIns="0" bIns="0" rtlCol="0" anchor="t"/>
          <a:lstStyle/>
          <a:p>
            <a:pPr marL="0" indent="0" algn="l">
              <a:lnSpc>
                <a:spcPts val="2150"/>
              </a:lnSpc>
              <a:buNone/>
            </a:pPr>
            <a:r>
              <a:rPr lang="en-US" sz="1750" b="1" dirty="0">
                <a:solidFill>
                  <a:srgbClr val="E2E6E9"/>
                </a:solidFill>
                <a:latin typeface="Montserrat Bold" pitchFamily="34" charset="0"/>
                <a:ea typeface="Montserrat Bold" pitchFamily="34" charset="-122"/>
                <a:cs typeface="Montserrat Bold" pitchFamily="34" charset="-120"/>
              </a:rPr>
              <a:t>Urgency Score Formula</a:t>
            </a:r>
            <a:endParaRPr lang="en-US" sz="1750" dirty="0"/>
          </a:p>
        </p:txBody>
      </p:sp>
      <p:sp>
        <p:nvSpPr>
          <p:cNvPr id="8" name="Text 5"/>
          <p:cNvSpPr/>
          <p:nvPr/>
        </p:nvSpPr>
        <p:spPr>
          <a:xfrm>
            <a:off x="978456" y="3315653"/>
            <a:ext cx="3845481" cy="559594"/>
          </a:xfrm>
          <a:prstGeom prst="rect">
            <a:avLst/>
          </a:prstGeom>
          <a:noFill/>
          <a:ln/>
        </p:spPr>
        <p:txBody>
          <a:bodyPr wrap="square" lIns="0" tIns="0" rIns="0" bIns="0" rtlCol="0" anchor="t"/>
          <a:lstStyle/>
          <a:p>
            <a:pPr marL="0" indent="0" algn="l">
              <a:lnSpc>
                <a:spcPts val="2200"/>
              </a:lnSpc>
              <a:buNone/>
            </a:pPr>
            <a:r>
              <a:rPr lang="en-US" sz="1500" b="1" dirty="0">
                <a:solidFill>
                  <a:srgbClr val="E2E6E9"/>
                </a:solidFill>
                <a:latin typeface="Source Sans 3" pitchFamily="34" charset="0"/>
                <a:ea typeface="Source Sans 3" pitchFamily="34" charset="-122"/>
                <a:cs typeface="Source Sans 3" pitchFamily="34" charset="-120"/>
              </a:rPr>
              <a:t>Score = Priority Weight × (1 / Days Until Deadline)</a:t>
            </a:r>
            <a:endParaRPr lang="en-US" sz="1500" dirty="0"/>
          </a:p>
        </p:txBody>
      </p:sp>
      <p:sp>
        <p:nvSpPr>
          <p:cNvPr id="9" name="Text 6"/>
          <p:cNvSpPr/>
          <p:nvPr/>
        </p:nvSpPr>
        <p:spPr>
          <a:xfrm>
            <a:off x="978456" y="3981569"/>
            <a:ext cx="3845481" cy="559594"/>
          </a:xfrm>
          <a:prstGeom prst="rect">
            <a:avLst/>
          </a:prstGeom>
          <a:noFill/>
          <a:ln/>
        </p:spPr>
        <p:txBody>
          <a:bodyPr wrap="squar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Higher scores appear at the top of the task list, ensuring critical work is prioritized.</a:t>
            </a:r>
            <a:endParaRPr lang="en-US" sz="1500" dirty="0"/>
          </a:p>
        </p:txBody>
      </p:sp>
      <p:sp>
        <p:nvSpPr>
          <p:cNvPr id="10" name="Shape 7"/>
          <p:cNvSpPr/>
          <p:nvPr/>
        </p:nvSpPr>
        <p:spPr>
          <a:xfrm>
            <a:off x="5196840" y="1971318"/>
            <a:ext cx="4236720" cy="2765465"/>
          </a:xfrm>
          <a:prstGeom prst="roundRect">
            <a:avLst>
              <a:gd name="adj" fmla="val 1062"/>
            </a:avLst>
          </a:prstGeom>
          <a:solidFill>
            <a:srgbClr val="303132"/>
          </a:solidFill>
          <a:ln/>
        </p:spPr>
      </p:sp>
      <p:sp>
        <p:nvSpPr>
          <p:cNvPr id="11" name="Shape 8"/>
          <p:cNvSpPr/>
          <p:nvPr/>
        </p:nvSpPr>
        <p:spPr>
          <a:xfrm>
            <a:off x="5392460" y="2166938"/>
            <a:ext cx="587097" cy="587097"/>
          </a:xfrm>
          <a:prstGeom prst="roundRect">
            <a:avLst>
              <a:gd name="adj" fmla="val 15573382"/>
            </a:avLst>
          </a:prstGeom>
          <a:solidFill>
            <a:srgbClr val="FFFFFF"/>
          </a:solidFill>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53908" y="2328267"/>
            <a:ext cx="264200" cy="264200"/>
          </a:xfrm>
          <a:prstGeom prst="rect">
            <a:avLst/>
          </a:prstGeom>
        </p:spPr>
      </p:pic>
      <p:sp>
        <p:nvSpPr>
          <p:cNvPr id="13" name="Text 9"/>
          <p:cNvSpPr/>
          <p:nvPr/>
        </p:nvSpPr>
        <p:spPr>
          <a:xfrm>
            <a:off x="5392460" y="2931319"/>
            <a:ext cx="2224088" cy="278011"/>
          </a:xfrm>
          <a:prstGeom prst="rect">
            <a:avLst/>
          </a:prstGeom>
          <a:noFill/>
          <a:ln/>
        </p:spPr>
        <p:txBody>
          <a:bodyPr wrap="none" lIns="0" tIns="0" rIns="0" bIns="0" rtlCol="0" anchor="t"/>
          <a:lstStyle/>
          <a:p>
            <a:pPr marL="0" indent="0" algn="l">
              <a:lnSpc>
                <a:spcPts val="2150"/>
              </a:lnSpc>
              <a:buNone/>
            </a:pPr>
            <a:r>
              <a:rPr lang="en-US" sz="1750" b="1" dirty="0">
                <a:solidFill>
                  <a:srgbClr val="E2E6E9"/>
                </a:solidFill>
                <a:latin typeface="Montserrat Bold" pitchFamily="34" charset="0"/>
                <a:ea typeface="Montserrat Bold" pitchFamily="34" charset="-122"/>
                <a:cs typeface="Montserrat Bold" pitchFamily="34" charset="-120"/>
              </a:rPr>
              <a:t>Priority Weights</a:t>
            </a:r>
            <a:endParaRPr lang="en-US" sz="1750" dirty="0"/>
          </a:p>
        </p:txBody>
      </p:sp>
      <p:sp>
        <p:nvSpPr>
          <p:cNvPr id="14" name="Text 10"/>
          <p:cNvSpPr/>
          <p:nvPr/>
        </p:nvSpPr>
        <p:spPr>
          <a:xfrm>
            <a:off x="5392460" y="3315653"/>
            <a:ext cx="3845481" cy="839391"/>
          </a:xfrm>
          <a:prstGeom prst="rect">
            <a:avLst/>
          </a:prstGeom>
          <a:noFill/>
          <a:ln/>
        </p:spPr>
        <p:txBody>
          <a:bodyPr wrap="squar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High Priority: </a:t>
            </a:r>
            <a:r>
              <a:rPr lang="en-US" sz="1500" b="1" dirty="0">
                <a:solidFill>
                  <a:srgbClr val="E2E6E9"/>
                </a:solidFill>
                <a:latin typeface="Source Sans 3" pitchFamily="34" charset="0"/>
                <a:ea typeface="Source Sans 3" pitchFamily="34" charset="-122"/>
                <a:cs typeface="Source Sans 3" pitchFamily="34" charset="-120"/>
              </a:rPr>
              <a:t>3 points</a:t>
            </a:r>
            <a:r>
              <a:rPr lang="en-US" sz="1500" dirty="0">
                <a:solidFill>
                  <a:srgbClr val="E2E6E9"/>
                </a:solidFill>
                <a:latin typeface="Source Sans 3" pitchFamily="34" charset="0"/>
                <a:ea typeface="Source Sans 3" pitchFamily="34" charset="-122"/>
                <a:cs typeface="Source Sans 3" pitchFamily="34" charset="-120"/>
              </a:rPr>
              <a:t>Medium Priority: </a:t>
            </a:r>
            <a:r>
              <a:rPr lang="en-US" sz="1500" b="1" dirty="0">
                <a:solidFill>
                  <a:srgbClr val="E2E6E9"/>
                </a:solidFill>
                <a:latin typeface="Source Sans 3" pitchFamily="34" charset="0"/>
                <a:ea typeface="Source Sans 3" pitchFamily="34" charset="-122"/>
                <a:cs typeface="Source Sans 3" pitchFamily="34" charset="-120"/>
              </a:rPr>
              <a:t>2 points</a:t>
            </a:r>
            <a:r>
              <a:rPr lang="en-US" sz="1500" dirty="0">
                <a:solidFill>
                  <a:srgbClr val="E2E6E9"/>
                </a:solidFill>
                <a:latin typeface="Source Sans 3" pitchFamily="34" charset="0"/>
                <a:ea typeface="Source Sans 3" pitchFamily="34" charset="-122"/>
                <a:cs typeface="Source Sans 3" pitchFamily="34" charset="-120"/>
              </a:rPr>
              <a:t>Low Priority: </a:t>
            </a:r>
            <a:r>
              <a:rPr lang="en-US" sz="1500" b="1" dirty="0">
                <a:solidFill>
                  <a:srgbClr val="E2E6E9"/>
                </a:solidFill>
                <a:latin typeface="Source Sans 3" pitchFamily="34" charset="0"/>
                <a:ea typeface="Source Sans 3" pitchFamily="34" charset="-122"/>
                <a:cs typeface="Source Sans 3" pitchFamily="34" charset="-120"/>
              </a:rPr>
              <a:t>1 point</a:t>
            </a:r>
            <a:endParaRPr lang="en-US" sz="1500" dirty="0"/>
          </a:p>
        </p:txBody>
      </p:sp>
      <p:sp>
        <p:nvSpPr>
          <p:cNvPr id="15" name="Shape 11"/>
          <p:cNvSpPr/>
          <p:nvPr/>
        </p:nvSpPr>
        <p:spPr>
          <a:xfrm>
            <a:off x="9610844" y="1971318"/>
            <a:ext cx="4236720" cy="2765465"/>
          </a:xfrm>
          <a:prstGeom prst="roundRect">
            <a:avLst>
              <a:gd name="adj" fmla="val 1062"/>
            </a:avLst>
          </a:prstGeom>
          <a:solidFill>
            <a:srgbClr val="303132"/>
          </a:solidFill>
          <a:ln/>
        </p:spPr>
      </p:sp>
      <p:sp>
        <p:nvSpPr>
          <p:cNvPr id="16" name="Shape 12"/>
          <p:cNvSpPr/>
          <p:nvPr/>
        </p:nvSpPr>
        <p:spPr>
          <a:xfrm>
            <a:off x="9806464" y="2166938"/>
            <a:ext cx="587097" cy="587097"/>
          </a:xfrm>
          <a:prstGeom prst="roundRect">
            <a:avLst>
              <a:gd name="adj" fmla="val 15573382"/>
            </a:avLst>
          </a:prstGeom>
          <a:solidFill>
            <a:srgbClr val="FFFFFF"/>
          </a:solidFill>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67913" y="2328267"/>
            <a:ext cx="264200" cy="264200"/>
          </a:xfrm>
          <a:prstGeom prst="rect">
            <a:avLst/>
          </a:prstGeom>
        </p:spPr>
      </p:pic>
      <p:sp>
        <p:nvSpPr>
          <p:cNvPr id="18" name="Text 13"/>
          <p:cNvSpPr/>
          <p:nvPr/>
        </p:nvSpPr>
        <p:spPr>
          <a:xfrm>
            <a:off x="9806464" y="2931319"/>
            <a:ext cx="2877622" cy="278011"/>
          </a:xfrm>
          <a:prstGeom prst="rect">
            <a:avLst/>
          </a:prstGeom>
          <a:noFill/>
          <a:ln/>
        </p:spPr>
        <p:txBody>
          <a:bodyPr wrap="none" lIns="0" tIns="0" rIns="0" bIns="0" rtlCol="0" anchor="t"/>
          <a:lstStyle/>
          <a:p>
            <a:pPr marL="0" indent="0" algn="l">
              <a:lnSpc>
                <a:spcPts val="2150"/>
              </a:lnSpc>
              <a:buNone/>
            </a:pPr>
            <a:r>
              <a:rPr lang="en-US" sz="1750" b="1" dirty="0">
                <a:solidFill>
                  <a:srgbClr val="E2E6E9"/>
                </a:solidFill>
                <a:latin typeface="Montserrat Bold" pitchFamily="34" charset="0"/>
                <a:ea typeface="Montserrat Bold" pitchFamily="34" charset="-122"/>
                <a:cs typeface="Montserrat Bold" pitchFamily="34" charset="-120"/>
              </a:rPr>
              <a:t>Automatic Recalculation</a:t>
            </a:r>
            <a:endParaRPr lang="en-US" sz="1750" dirty="0"/>
          </a:p>
        </p:txBody>
      </p:sp>
      <p:sp>
        <p:nvSpPr>
          <p:cNvPr id="19" name="Text 14"/>
          <p:cNvSpPr/>
          <p:nvPr/>
        </p:nvSpPr>
        <p:spPr>
          <a:xfrm>
            <a:off x="9806464" y="3315653"/>
            <a:ext cx="3845481" cy="1119187"/>
          </a:xfrm>
          <a:prstGeom prst="rect">
            <a:avLst/>
          </a:prstGeom>
          <a:noFill/>
          <a:ln/>
        </p:spPr>
        <p:txBody>
          <a:bodyPr wrap="squar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Tasks re-sort dynamically whenever a new task is added, completed, or modified. The system accounts for time decay as deadlines approach.</a:t>
            </a:r>
            <a:endParaRPr lang="en-US" sz="1500" dirty="0"/>
          </a:p>
        </p:txBody>
      </p:sp>
      <p:sp>
        <p:nvSpPr>
          <p:cNvPr id="20" name="Text 15"/>
          <p:cNvSpPr/>
          <p:nvPr/>
        </p:nvSpPr>
        <p:spPr>
          <a:xfrm>
            <a:off x="782836" y="5002768"/>
            <a:ext cx="2864644" cy="333613"/>
          </a:xfrm>
          <a:prstGeom prst="rect">
            <a:avLst/>
          </a:prstGeom>
          <a:noFill/>
          <a:ln/>
        </p:spPr>
        <p:txBody>
          <a:bodyPr wrap="none" lIns="0" tIns="0" rIns="0" bIns="0" rtlCol="0" anchor="t"/>
          <a:lstStyle/>
          <a:p>
            <a:pPr marL="0" indent="0" algn="l">
              <a:lnSpc>
                <a:spcPts val="2600"/>
              </a:lnSpc>
              <a:buNone/>
            </a:pPr>
            <a:r>
              <a:rPr lang="en-US" sz="2100" b="1" dirty="0">
                <a:solidFill>
                  <a:srgbClr val="FFFFFF"/>
                </a:solidFill>
                <a:latin typeface="Montserrat Bold" pitchFamily="34" charset="0"/>
                <a:ea typeface="Montserrat Bold" pitchFamily="34" charset="-122"/>
                <a:cs typeface="Montserrat Bold" pitchFamily="34" charset="-120"/>
              </a:rPr>
              <a:t>Example Calculation</a:t>
            </a:r>
            <a:endParaRPr lang="en-US" sz="2100" dirty="0"/>
          </a:p>
        </p:txBody>
      </p:sp>
      <p:sp>
        <p:nvSpPr>
          <p:cNvPr id="21" name="Shape 16"/>
          <p:cNvSpPr/>
          <p:nvPr/>
        </p:nvSpPr>
        <p:spPr>
          <a:xfrm>
            <a:off x="782836" y="5602367"/>
            <a:ext cx="13064728" cy="2045970"/>
          </a:xfrm>
          <a:prstGeom prst="roundRect">
            <a:avLst>
              <a:gd name="adj" fmla="val 1435"/>
            </a:avLst>
          </a:prstGeom>
          <a:noFill/>
          <a:ln w="7620">
            <a:solidFill>
              <a:srgbClr val="FFFFFF">
                <a:alpha val="24000"/>
              </a:srgbClr>
            </a:solidFill>
            <a:prstDash val="solid"/>
          </a:ln>
        </p:spPr>
      </p:sp>
      <p:sp>
        <p:nvSpPr>
          <p:cNvPr id="22" name="Shape 17"/>
          <p:cNvSpPr/>
          <p:nvPr/>
        </p:nvSpPr>
        <p:spPr>
          <a:xfrm>
            <a:off x="790456" y="5609987"/>
            <a:ext cx="13049488" cy="507683"/>
          </a:xfrm>
          <a:prstGeom prst="rect">
            <a:avLst/>
          </a:prstGeom>
          <a:solidFill>
            <a:srgbClr val="FFFFFF">
              <a:alpha val="4000"/>
            </a:srgbClr>
          </a:solidFill>
          <a:ln/>
        </p:spPr>
      </p:sp>
      <p:sp>
        <p:nvSpPr>
          <p:cNvPr id="23" name="Text 18"/>
          <p:cNvSpPr/>
          <p:nvPr/>
        </p:nvSpPr>
        <p:spPr>
          <a:xfrm>
            <a:off x="986314" y="5723930"/>
            <a:ext cx="2867263" cy="279797"/>
          </a:xfrm>
          <a:prstGeom prst="rect">
            <a:avLst/>
          </a:prstGeom>
          <a:noFill/>
          <a:ln/>
        </p:spPr>
        <p:txBody>
          <a:bodyPr wrap="none" lIns="0" tIns="0" rIns="0" bIns="0" rtlCol="0" anchor="t"/>
          <a:lstStyle/>
          <a:p>
            <a:pPr marL="0" indent="0" algn="l">
              <a:lnSpc>
                <a:spcPts val="2200"/>
              </a:lnSpc>
              <a:buNone/>
            </a:pPr>
            <a:r>
              <a:rPr lang="en-US" sz="1500" b="1" dirty="0">
                <a:solidFill>
                  <a:srgbClr val="E2E6E9"/>
                </a:solidFill>
                <a:latin typeface="Source Sans 3" pitchFamily="34" charset="0"/>
                <a:ea typeface="Source Sans 3" pitchFamily="34" charset="-122"/>
                <a:cs typeface="Source Sans 3" pitchFamily="34" charset="-120"/>
              </a:rPr>
              <a:t>Task</a:t>
            </a:r>
            <a:endParaRPr lang="en-US" sz="1500" dirty="0"/>
          </a:p>
        </p:txBody>
      </p:sp>
      <p:sp>
        <p:nvSpPr>
          <p:cNvPr id="24" name="Text 19"/>
          <p:cNvSpPr/>
          <p:nvPr/>
        </p:nvSpPr>
        <p:spPr>
          <a:xfrm>
            <a:off x="4252436" y="5723930"/>
            <a:ext cx="2210991" cy="279797"/>
          </a:xfrm>
          <a:prstGeom prst="rect">
            <a:avLst/>
          </a:prstGeom>
          <a:noFill/>
          <a:ln/>
        </p:spPr>
        <p:txBody>
          <a:bodyPr wrap="none" lIns="0" tIns="0" rIns="0" bIns="0" rtlCol="0" anchor="t"/>
          <a:lstStyle/>
          <a:p>
            <a:pPr marL="0" indent="0" algn="l">
              <a:lnSpc>
                <a:spcPts val="2200"/>
              </a:lnSpc>
              <a:buNone/>
            </a:pPr>
            <a:r>
              <a:rPr lang="en-US" sz="1500" b="1" dirty="0">
                <a:solidFill>
                  <a:srgbClr val="E2E6E9"/>
                </a:solidFill>
                <a:latin typeface="Source Sans 3" pitchFamily="34" charset="0"/>
                <a:ea typeface="Source Sans 3" pitchFamily="34" charset="-122"/>
                <a:cs typeface="Source Sans 3" pitchFamily="34" charset="-120"/>
              </a:rPr>
              <a:t>Priority</a:t>
            </a:r>
            <a:endParaRPr lang="en-US" sz="1500" dirty="0"/>
          </a:p>
        </p:txBody>
      </p:sp>
      <p:sp>
        <p:nvSpPr>
          <p:cNvPr id="25" name="Text 20"/>
          <p:cNvSpPr/>
          <p:nvPr/>
        </p:nvSpPr>
        <p:spPr>
          <a:xfrm>
            <a:off x="6862286" y="5723930"/>
            <a:ext cx="2210991" cy="279797"/>
          </a:xfrm>
          <a:prstGeom prst="rect">
            <a:avLst/>
          </a:prstGeom>
          <a:noFill/>
          <a:ln/>
        </p:spPr>
        <p:txBody>
          <a:bodyPr wrap="none" lIns="0" tIns="0" rIns="0" bIns="0" rtlCol="0" anchor="t"/>
          <a:lstStyle/>
          <a:p>
            <a:pPr marL="0" indent="0" algn="l">
              <a:lnSpc>
                <a:spcPts val="2200"/>
              </a:lnSpc>
              <a:buNone/>
            </a:pPr>
            <a:r>
              <a:rPr lang="en-US" sz="1500" b="1" dirty="0">
                <a:solidFill>
                  <a:srgbClr val="E2E6E9"/>
                </a:solidFill>
                <a:latin typeface="Source Sans 3" pitchFamily="34" charset="0"/>
                <a:ea typeface="Source Sans 3" pitchFamily="34" charset="-122"/>
                <a:cs typeface="Source Sans 3" pitchFamily="34" charset="-120"/>
              </a:rPr>
              <a:t>Days Left</a:t>
            </a:r>
            <a:endParaRPr lang="en-US" sz="1500" dirty="0"/>
          </a:p>
        </p:txBody>
      </p:sp>
      <p:sp>
        <p:nvSpPr>
          <p:cNvPr id="26" name="Text 21"/>
          <p:cNvSpPr/>
          <p:nvPr/>
        </p:nvSpPr>
        <p:spPr>
          <a:xfrm>
            <a:off x="9472136" y="5723930"/>
            <a:ext cx="2210991" cy="279797"/>
          </a:xfrm>
          <a:prstGeom prst="rect">
            <a:avLst/>
          </a:prstGeom>
          <a:noFill/>
          <a:ln/>
        </p:spPr>
        <p:txBody>
          <a:bodyPr wrap="none" lIns="0" tIns="0" rIns="0" bIns="0" rtlCol="0" anchor="t"/>
          <a:lstStyle/>
          <a:p>
            <a:pPr marL="0" indent="0" algn="l">
              <a:lnSpc>
                <a:spcPts val="2200"/>
              </a:lnSpc>
              <a:buNone/>
            </a:pPr>
            <a:r>
              <a:rPr lang="en-US" sz="1500" b="1" dirty="0">
                <a:solidFill>
                  <a:srgbClr val="E2E6E9"/>
                </a:solidFill>
                <a:latin typeface="Source Sans 3" pitchFamily="34" charset="0"/>
                <a:ea typeface="Source Sans 3" pitchFamily="34" charset="-122"/>
                <a:cs typeface="Source Sans 3" pitchFamily="34" charset="-120"/>
              </a:rPr>
              <a:t>Score</a:t>
            </a:r>
            <a:endParaRPr lang="en-US" sz="1500" dirty="0"/>
          </a:p>
        </p:txBody>
      </p:sp>
      <p:sp>
        <p:nvSpPr>
          <p:cNvPr id="27" name="Text 22"/>
          <p:cNvSpPr/>
          <p:nvPr/>
        </p:nvSpPr>
        <p:spPr>
          <a:xfrm>
            <a:off x="12081986" y="5723930"/>
            <a:ext cx="1562338" cy="279797"/>
          </a:xfrm>
          <a:prstGeom prst="rect">
            <a:avLst/>
          </a:prstGeom>
          <a:noFill/>
          <a:ln/>
        </p:spPr>
        <p:txBody>
          <a:bodyPr wrap="none" lIns="0" tIns="0" rIns="0" bIns="0" rtlCol="0" anchor="t"/>
          <a:lstStyle/>
          <a:p>
            <a:pPr marL="0" indent="0" algn="l">
              <a:lnSpc>
                <a:spcPts val="2200"/>
              </a:lnSpc>
              <a:buNone/>
            </a:pPr>
            <a:r>
              <a:rPr lang="en-US" sz="1500" b="1" dirty="0">
                <a:solidFill>
                  <a:srgbClr val="E2E6E9"/>
                </a:solidFill>
                <a:latin typeface="Source Sans 3" pitchFamily="34" charset="0"/>
                <a:ea typeface="Source Sans 3" pitchFamily="34" charset="-122"/>
                <a:cs typeface="Source Sans 3" pitchFamily="34" charset="-120"/>
              </a:rPr>
              <a:t>Order</a:t>
            </a:r>
            <a:endParaRPr lang="en-US" sz="1500" dirty="0"/>
          </a:p>
        </p:txBody>
      </p:sp>
      <p:sp>
        <p:nvSpPr>
          <p:cNvPr id="28" name="Shape 23"/>
          <p:cNvSpPr/>
          <p:nvPr/>
        </p:nvSpPr>
        <p:spPr>
          <a:xfrm>
            <a:off x="790456" y="6117669"/>
            <a:ext cx="13049488" cy="507683"/>
          </a:xfrm>
          <a:prstGeom prst="rect">
            <a:avLst/>
          </a:prstGeom>
          <a:solidFill>
            <a:srgbClr val="000000">
              <a:alpha val="4000"/>
            </a:srgbClr>
          </a:solidFill>
          <a:ln/>
        </p:spPr>
      </p:sp>
      <p:sp>
        <p:nvSpPr>
          <p:cNvPr id="29" name="Text 24"/>
          <p:cNvSpPr/>
          <p:nvPr/>
        </p:nvSpPr>
        <p:spPr>
          <a:xfrm>
            <a:off x="986314" y="6231612"/>
            <a:ext cx="2867263"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Math Assignment</a:t>
            </a:r>
            <a:endParaRPr lang="en-US" sz="1500" dirty="0"/>
          </a:p>
        </p:txBody>
      </p:sp>
      <p:sp>
        <p:nvSpPr>
          <p:cNvPr id="30" name="Text 25"/>
          <p:cNvSpPr/>
          <p:nvPr/>
        </p:nvSpPr>
        <p:spPr>
          <a:xfrm>
            <a:off x="4252436" y="6231612"/>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High (3)</a:t>
            </a:r>
            <a:endParaRPr lang="en-US" sz="1500" dirty="0"/>
          </a:p>
        </p:txBody>
      </p:sp>
      <p:sp>
        <p:nvSpPr>
          <p:cNvPr id="31" name="Text 26"/>
          <p:cNvSpPr/>
          <p:nvPr/>
        </p:nvSpPr>
        <p:spPr>
          <a:xfrm>
            <a:off x="6862286" y="6231612"/>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2 days</a:t>
            </a:r>
            <a:endParaRPr lang="en-US" sz="1500" dirty="0"/>
          </a:p>
        </p:txBody>
      </p:sp>
      <p:sp>
        <p:nvSpPr>
          <p:cNvPr id="32" name="Text 27"/>
          <p:cNvSpPr/>
          <p:nvPr/>
        </p:nvSpPr>
        <p:spPr>
          <a:xfrm>
            <a:off x="9472136" y="6231612"/>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3 × 0.5 = 1.5</a:t>
            </a:r>
            <a:endParaRPr lang="en-US" sz="1500" dirty="0"/>
          </a:p>
        </p:txBody>
      </p:sp>
      <p:sp>
        <p:nvSpPr>
          <p:cNvPr id="33" name="Text 28"/>
          <p:cNvSpPr/>
          <p:nvPr/>
        </p:nvSpPr>
        <p:spPr>
          <a:xfrm>
            <a:off x="12081986" y="6231612"/>
            <a:ext cx="1562338"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1st</a:t>
            </a:r>
            <a:endParaRPr lang="en-US" sz="1500" dirty="0"/>
          </a:p>
        </p:txBody>
      </p:sp>
      <p:sp>
        <p:nvSpPr>
          <p:cNvPr id="34" name="Shape 29"/>
          <p:cNvSpPr/>
          <p:nvPr/>
        </p:nvSpPr>
        <p:spPr>
          <a:xfrm>
            <a:off x="790456" y="6625352"/>
            <a:ext cx="13049488" cy="507683"/>
          </a:xfrm>
          <a:prstGeom prst="rect">
            <a:avLst/>
          </a:prstGeom>
          <a:solidFill>
            <a:srgbClr val="FFFFFF">
              <a:alpha val="4000"/>
            </a:srgbClr>
          </a:solidFill>
          <a:ln/>
        </p:spPr>
      </p:sp>
      <p:sp>
        <p:nvSpPr>
          <p:cNvPr id="35" name="Text 30"/>
          <p:cNvSpPr/>
          <p:nvPr/>
        </p:nvSpPr>
        <p:spPr>
          <a:xfrm>
            <a:off x="986314" y="6739295"/>
            <a:ext cx="2867263"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History Essay</a:t>
            </a:r>
            <a:endParaRPr lang="en-US" sz="1500" dirty="0"/>
          </a:p>
        </p:txBody>
      </p:sp>
      <p:sp>
        <p:nvSpPr>
          <p:cNvPr id="36" name="Text 31"/>
          <p:cNvSpPr/>
          <p:nvPr/>
        </p:nvSpPr>
        <p:spPr>
          <a:xfrm>
            <a:off x="4252436" y="6739295"/>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Low (1)</a:t>
            </a:r>
            <a:endParaRPr lang="en-US" sz="1500" dirty="0"/>
          </a:p>
        </p:txBody>
      </p:sp>
      <p:sp>
        <p:nvSpPr>
          <p:cNvPr id="37" name="Text 32"/>
          <p:cNvSpPr/>
          <p:nvPr/>
        </p:nvSpPr>
        <p:spPr>
          <a:xfrm>
            <a:off x="6862286" y="6739295"/>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1 day</a:t>
            </a:r>
            <a:endParaRPr lang="en-US" sz="1500" dirty="0"/>
          </a:p>
        </p:txBody>
      </p:sp>
      <p:sp>
        <p:nvSpPr>
          <p:cNvPr id="38" name="Text 33"/>
          <p:cNvSpPr/>
          <p:nvPr/>
        </p:nvSpPr>
        <p:spPr>
          <a:xfrm>
            <a:off x="9472136" y="6739295"/>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1 × 1.0 = 1.0</a:t>
            </a:r>
            <a:endParaRPr lang="en-US" sz="1500" dirty="0"/>
          </a:p>
        </p:txBody>
      </p:sp>
      <p:sp>
        <p:nvSpPr>
          <p:cNvPr id="39" name="Text 34"/>
          <p:cNvSpPr/>
          <p:nvPr/>
        </p:nvSpPr>
        <p:spPr>
          <a:xfrm>
            <a:off x="12081986" y="6739295"/>
            <a:ext cx="1562338"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2nd</a:t>
            </a:r>
            <a:endParaRPr lang="en-US" sz="1500" dirty="0"/>
          </a:p>
        </p:txBody>
      </p:sp>
      <p:sp>
        <p:nvSpPr>
          <p:cNvPr id="40" name="Shape 35"/>
          <p:cNvSpPr/>
          <p:nvPr/>
        </p:nvSpPr>
        <p:spPr>
          <a:xfrm>
            <a:off x="790456" y="7133034"/>
            <a:ext cx="13049488" cy="507683"/>
          </a:xfrm>
          <a:prstGeom prst="rect">
            <a:avLst/>
          </a:prstGeom>
          <a:solidFill>
            <a:srgbClr val="000000">
              <a:alpha val="4000"/>
            </a:srgbClr>
          </a:solidFill>
          <a:ln/>
        </p:spPr>
      </p:sp>
      <p:sp>
        <p:nvSpPr>
          <p:cNvPr id="41" name="Text 36"/>
          <p:cNvSpPr/>
          <p:nvPr/>
        </p:nvSpPr>
        <p:spPr>
          <a:xfrm>
            <a:off x="986314" y="7246977"/>
            <a:ext cx="2867263"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Science Lab</a:t>
            </a:r>
            <a:endParaRPr lang="en-US" sz="1500" dirty="0"/>
          </a:p>
        </p:txBody>
      </p:sp>
      <p:sp>
        <p:nvSpPr>
          <p:cNvPr id="42" name="Text 37"/>
          <p:cNvSpPr/>
          <p:nvPr/>
        </p:nvSpPr>
        <p:spPr>
          <a:xfrm>
            <a:off x="4252436" y="7246977"/>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Medium (2)</a:t>
            </a:r>
            <a:endParaRPr lang="en-US" sz="1500" dirty="0"/>
          </a:p>
        </p:txBody>
      </p:sp>
      <p:sp>
        <p:nvSpPr>
          <p:cNvPr id="43" name="Text 38"/>
          <p:cNvSpPr/>
          <p:nvPr/>
        </p:nvSpPr>
        <p:spPr>
          <a:xfrm>
            <a:off x="6862286" y="7246977"/>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5 days</a:t>
            </a:r>
            <a:endParaRPr lang="en-US" sz="1500" dirty="0"/>
          </a:p>
        </p:txBody>
      </p:sp>
      <p:sp>
        <p:nvSpPr>
          <p:cNvPr id="44" name="Text 39"/>
          <p:cNvSpPr/>
          <p:nvPr/>
        </p:nvSpPr>
        <p:spPr>
          <a:xfrm>
            <a:off x="9472136" y="7246977"/>
            <a:ext cx="2210991"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2 × 0.2 = 0.4</a:t>
            </a:r>
            <a:endParaRPr lang="en-US" sz="1500" dirty="0"/>
          </a:p>
        </p:txBody>
      </p:sp>
      <p:sp>
        <p:nvSpPr>
          <p:cNvPr id="45" name="Text 40"/>
          <p:cNvSpPr/>
          <p:nvPr/>
        </p:nvSpPr>
        <p:spPr>
          <a:xfrm>
            <a:off x="12081986" y="7246977"/>
            <a:ext cx="1562338" cy="279797"/>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Source Sans 3" pitchFamily="34" charset="0"/>
                <a:ea typeface="Source Sans 3" pitchFamily="34" charset="-122"/>
                <a:cs typeface="Source Sans 3" pitchFamily="34" charset="-120"/>
              </a:rPr>
              <a:t>3rd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50012" y="387966"/>
            <a:ext cx="3990618" cy="364331"/>
          </a:xfrm>
          <a:prstGeom prst="rect">
            <a:avLst/>
          </a:prstGeom>
          <a:noFill/>
          <a:ln/>
        </p:spPr>
        <p:txBody>
          <a:bodyPr wrap="none" lIns="0" tIns="0" rIns="0" bIns="0" rtlCol="0" anchor="t"/>
          <a:lstStyle/>
          <a:p>
            <a:pPr marL="0" indent="0" algn="l">
              <a:lnSpc>
                <a:spcPts val="2850"/>
              </a:lnSpc>
              <a:buNone/>
            </a:pPr>
            <a:r>
              <a:rPr lang="en-US" sz="2250" b="1" dirty="0">
                <a:solidFill>
                  <a:srgbClr val="FFFFFF"/>
                </a:solidFill>
                <a:latin typeface="Montserrat Bold" pitchFamily="34" charset="0"/>
                <a:ea typeface="Montserrat Bold" pitchFamily="34" charset="-122"/>
                <a:cs typeface="Montserrat Bold" pitchFamily="34" charset="-120"/>
              </a:rPr>
              <a:t>Application User Interface</a:t>
            </a:r>
            <a:endParaRPr lang="en-US" sz="2250" dirty="0"/>
          </a:p>
        </p:txBody>
      </p:sp>
      <p:sp>
        <p:nvSpPr>
          <p:cNvPr id="3" name="Text 1"/>
          <p:cNvSpPr/>
          <p:nvPr/>
        </p:nvSpPr>
        <p:spPr>
          <a:xfrm>
            <a:off x="2718673" y="957263"/>
            <a:ext cx="9193054" cy="306467"/>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The application features six dedicated views, each designed for a specific aspect of academic management. The dark mode interface reduces eye strain during late-night study sessions.</a:t>
            </a:r>
            <a:endParaRPr lang="en-US" sz="1000" dirty="0"/>
          </a:p>
        </p:txBody>
      </p:sp>
      <p:sp>
        <p:nvSpPr>
          <p:cNvPr id="5" name="Text 2"/>
          <p:cNvSpPr/>
          <p:nvPr/>
        </p:nvSpPr>
        <p:spPr>
          <a:xfrm>
            <a:off x="2718673" y="3652242"/>
            <a:ext cx="1553051" cy="182166"/>
          </a:xfrm>
          <a:prstGeom prst="rect">
            <a:avLst/>
          </a:prstGeom>
          <a:noFill/>
          <a:ln/>
        </p:spPr>
        <p:txBody>
          <a:bodyPr wrap="none" lIns="0" tIns="0" rIns="0" bIns="0" rtlCol="0" anchor="t"/>
          <a:lstStyle/>
          <a:p>
            <a:pPr marL="0" indent="0" algn="l">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Login &amp; Registration</a:t>
            </a:r>
            <a:endParaRPr lang="en-US" sz="1100" dirty="0"/>
          </a:p>
        </p:txBody>
      </p:sp>
      <p:sp>
        <p:nvSpPr>
          <p:cNvPr id="6" name="Text 3"/>
          <p:cNvSpPr/>
          <p:nvPr/>
        </p:nvSpPr>
        <p:spPr>
          <a:xfrm>
            <a:off x="2718673" y="3880009"/>
            <a:ext cx="2226826" cy="459700"/>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Clean centered card design with email and password fields. Supports both sign-up and login with dark mode toggle.</a:t>
            </a:r>
            <a:endParaRPr lang="en-US" sz="1000" dirty="0"/>
          </a:p>
        </p:txBody>
      </p:sp>
      <p:sp>
        <p:nvSpPr>
          <p:cNvPr id="8" name="Text 4"/>
          <p:cNvSpPr/>
          <p:nvPr/>
        </p:nvSpPr>
        <p:spPr>
          <a:xfrm>
            <a:off x="6101327" y="3652361"/>
            <a:ext cx="1598295" cy="182166"/>
          </a:xfrm>
          <a:prstGeom prst="rect">
            <a:avLst/>
          </a:prstGeom>
          <a:noFill/>
          <a:ln/>
        </p:spPr>
        <p:txBody>
          <a:bodyPr wrap="none" lIns="0" tIns="0" rIns="0" bIns="0" rtlCol="0" anchor="t"/>
          <a:lstStyle/>
          <a:p>
            <a:pPr marL="0" indent="0" algn="l">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Dashboard Overview</a:t>
            </a:r>
            <a:endParaRPr lang="en-US" sz="1100" dirty="0"/>
          </a:p>
        </p:txBody>
      </p:sp>
      <p:sp>
        <p:nvSpPr>
          <p:cNvPr id="9" name="Text 5"/>
          <p:cNvSpPr/>
          <p:nvPr/>
        </p:nvSpPr>
        <p:spPr>
          <a:xfrm>
            <a:off x="5791980" y="3880128"/>
            <a:ext cx="2226945" cy="459700"/>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Personalized greeting displays total tasks, completed count, and logged study hours. Pomodoro timer runs in sidebar.</a:t>
            </a:r>
            <a:endParaRPr lang="en-US" sz="1000" dirty="0"/>
          </a:p>
        </p:txBody>
      </p:sp>
      <p:sp>
        <p:nvSpPr>
          <p:cNvPr id="11" name="Text 6"/>
          <p:cNvSpPr/>
          <p:nvPr/>
        </p:nvSpPr>
        <p:spPr>
          <a:xfrm>
            <a:off x="9896326" y="3837265"/>
            <a:ext cx="1457206" cy="182166"/>
          </a:xfrm>
          <a:prstGeom prst="rect">
            <a:avLst/>
          </a:prstGeom>
          <a:noFill/>
          <a:ln/>
        </p:spPr>
        <p:txBody>
          <a:bodyPr wrap="none" lIns="0" tIns="0" rIns="0" bIns="0" rtlCol="0" anchor="t"/>
          <a:lstStyle/>
          <a:p>
            <a:pPr marL="0" indent="0" algn="l">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Schedule View</a:t>
            </a:r>
            <a:endParaRPr lang="en-US" sz="1100" dirty="0"/>
          </a:p>
        </p:txBody>
      </p:sp>
      <p:sp>
        <p:nvSpPr>
          <p:cNvPr id="12" name="Text 7"/>
          <p:cNvSpPr/>
          <p:nvPr/>
        </p:nvSpPr>
        <p:spPr>
          <a:xfrm>
            <a:off x="9896326" y="4032409"/>
            <a:ext cx="2226945" cy="612934"/>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Add tasks with priority, deadline, subject, and hours. Full task list shows color-coded borders: Red (High), Yellow (Medium), Green (Low).</a:t>
            </a:r>
            <a:endParaRPr lang="en-US" sz="1000" dirty="0"/>
          </a:p>
        </p:txBody>
      </p:sp>
      <p:sp>
        <p:nvSpPr>
          <p:cNvPr id="14" name="Text 8"/>
          <p:cNvSpPr/>
          <p:nvPr/>
        </p:nvSpPr>
        <p:spPr>
          <a:xfrm>
            <a:off x="9684782" y="3652361"/>
            <a:ext cx="1580317" cy="182166"/>
          </a:xfrm>
          <a:prstGeom prst="rect">
            <a:avLst/>
          </a:prstGeom>
          <a:noFill/>
          <a:ln/>
        </p:spPr>
        <p:txBody>
          <a:bodyPr wrap="none" lIns="0" tIns="0" rIns="0" bIns="0" rtlCol="0" anchor="t"/>
          <a:lstStyle/>
          <a:p>
            <a:pPr marL="0" indent="0" algn="l">
              <a:lnSpc>
                <a:spcPts val="1400"/>
              </a:lnSpc>
              <a:buNone/>
            </a:pPr>
            <a:endParaRPr lang="en-US" sz="1100" dirty="0"/>
          </a:p>
        </p:txBody>
      </p:sp>
      <p:sp>
        <p:nvSpPr>
          <p:cNvPr id="17" name="Text 10"/>
          <p:cNvSpPr/>
          <p:nvPr/>
        </p:nvSpPr>
        <p:spPr>
          <a:xfrm>
            <a:off x="3037875" y="7170002"/>
            <a:ext cx="1457206" cy="182166"/>
          </a:xfrm>
          <a:prstGeom prst="rect">
            <a:avLst/>
          </a:prstGeom>
          <a:noFill/>
          <a:ln/>
        </p:spPr>
        <p:txBody>
          <a:bodyPr wrap="none" lIns="0" tIns="0" rIns="0" bIns="0" rtlCol="0" anchor="t"/>
          <a:lstStyle/>
          <a:p>
            <a:pPr marL="0" indent="0" algn="l">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Notes System</a:t>
            </a:r>
            <a:endParaRPr lang="en-US" sz="1100" dirty="0"/>
          </a:p>
        </p:txBody>
      </p:sp>
      <p:sp>
        <p:nvSpPr>
          <p:cNvPr id="18" name="Text 11"/>
          <p:cNvSpPr/>
          <p:nvPr/>
        </p:nvSpPr>
        <p:spPr>
          <a:xfrm>
            <a:off x="3045321" y="7421947"/>
            <a:ext cx="2226826" cy="612934"/>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Full-page auto-saving notes with rich text formatting toolbar. Changes save instantly without manual save button clicks.</a:t>
            </a:r>
            <a:endParaRPr lang="en-US" sz="1000" dirty="0"/>
          </a:p>
        </p:txBody>
      </p:sp>
      <p:sp>
        <p:nvSpPr>
          <p:cNvPr id="20" name="Text 12"/>
          <p:cNvSpPr/>
          <p:nvPr/>
        </p:nvSpPr>
        <p:spPr>
          <a:xfrm>
            <a:off x="8248701" y="7170002"/>
            <a:ext cx="1457206" cy="182166"/>
          </a:xfrm>
          <a:prstGeom prst="rect">
            <a:avLst/>
          </a:prstGeom>
          <a:noFill/>
          <a:ln/>
        </p:spPr>
        <p:txBody>
          <a:bodyPr wrap="none" lIns="0" tIns="0" rIns="0" bIns="0" rtlCol="0" anchor="t"/>
          <a:lstStyle/>
          <a:p>
            <a:pPr marL="0" indent="0" algn="l">
              <a:lnSpc>
                <a:spcPts val="1400"/>
              </a:lnSpc>
              <a:buNone/>
            </a:pPr>
            <a:r>
              <a:rPr lang="en-US" sz="1100" b="1" dirty="0">
                <a:solidFill>
                  <a:srgbClr val="E2E6E9"/>
                </a:solidFill>
                <a:latin typeface="Montserrat Bold" pitchFamily="34" charset="0"/>
                <a:ea typeface="Montserrat Bold" pitchFamily="34" charset="-122"/>
                <a:cs typeface="Montserrat Bold" pitchFamily="34" charset="-120"/>
              </a:rPr>
              <a:t>Flashcard Creator</a:t>
            </a:r>
            <a:endParaRPr lang="en-US" sz="1100" dirty="0"/>
          </a:p>
        </p:txBody>
      </p:sp>
      <p:sp>
        <p:nvSpPr>
          <p:cNvPr id="21" name="Text 13"/>
          <p:cNvSpPr/>
          <p:nvPr/>
        </p:nvSpPr>
        <p:spPr>
          <a:xfrm>
            <a:off x="8248701" y="7421947"/>
            <a:ext cx="2226945" cy="459700"/>
          </a:xfrm>
          <a:prstGeom prst="rect">
            <a:avLst/>
          </a:prstGeom>
          <a:noFill/>
          <a:ln/>
        </p:spPr>
        <p:txBody>
          <a:bodyPr wrap="square" lIns="0" tIns="0" rIns="0" bIns="0" rtlCol="0" anchor="t"/>
          <a:lstStyle/>
          <a:p>
            <a:pPr marL="0" indent="0" algn="l">
              <a:lnSpc>
                <a:spcPts val="1200"/>
              </a:lnSpc>
              <a:buNone/>
            </a:pPr>
            <a:r>
              <a:rPr lang="en-US" sz="1000" dirty="0">
                <a:solidFill>
                  <a:srgbClr val="E2E6E9"/>
                </a:solidFill>
                <a:latin typeface="Source Sans 3" pitchFamily="34" charset="0"/>
                <a:ea typeface="Source Sans 3" pitchFamily="34" charset="-122"/>
                <a:cs typeface="Source Sans 3" pitchFamily="34" charset="-120"/>
              </a:rPr>
              <a:t>Q&amp;A flashcard system for active recall studying. Create card decks by subject and export for mobile study.</a:t>
            </a:r>
            <a:endParaRPr lang="en-US" sz="1000" dirty="0"/>
          </a:p>
        </p:txBody>
      </p:sp>
      <p:pic>
        <p:nvPicPr>
          <p:cNvPr id="23" name="Picture 22">
            <a:extLst>
              <a:ext uri="{FF2B5EF4-FFF2-40B4-BE49-F238E27FC236}">
                <a16:creationId xmlns:a16="http://schemas.microsoft.com/office/drawing/2014/main" id="{F557EBA6-895D-1D4E-CEBC-E4FDDEDC7DC4}"/>
              </a:ext>
            </a:extLst>
          </p:cNvPr>
          <p:cNvPicPr>
            <a:picLocks noChangeAspect="1"/>
          </p:cNvPicPr>
          <p:nvPr/>
        </p:nvPicPr>
        <p:blipFill>
          <a:blip r:embed="rId3"/>
          <a:stretch>
            <a:fillRect/>
          </a:stretch>
        </p:blipFill>
        <p:spPr>
          <a:xfrm>
            <a:off x="2495314" y="1458397"/>
            <a:ext cx="1999767" cy="2226945"/>
          </a:xfrm>
          <a:prstGeom prst="rect">
            <a:avLst/>
          </a:prstGeom>
        </p:spPr>
      </p:pic>
      <p:pic>
        <p:nvPicPr>
          <p:cNvPr id="25" name="Picture 24">
            <a:extLst>
              <a:ext uri="{FF2B5EF4-FFF2-40B4-BE49-F238E27FC236}">
                <a16:creationId xmlns:a16="http://schemas.microsoft.com/office/drawing/2014/main" id="{140E80E6-CF33-E876-12C8-C6F98D1FACC0}"/>
              </a:ext>
            </a:extLst>
          </p:cNvPr>
          <p:cNvPicPr>
            <a:picLocks noChangeAspect="1"/>
          </p:cNvPicPr>
          <p:nvPr/>
        </p:nvPicPr>
        <p:blipFill>
          <a:blip r:embed="rId4"/>
          <a:stretch>
            <a:fillRect/>
          </a:stretch>
        </p:blipFill>
        <p:spPr>
          <a:xfrm>
            <a:off x="5178468" y="1502039"/>
            <a:ext cx="3444012" cy="2014933"/>
          </a:xfrm>
          <a:prstGeom prst="rect">
            <a:avLst/>
          </a:prstGeom>
        </p:spPr>
      </p:pic>
      <p:pic>
        <p:nvPicPr>
          <p:cNvPr id="27" name="Picture 26">
            <a:extLst>
              <a:ext uri="{FF2B5EF4-FFF2-40B4-BE49-F238E27FC236}">
                <a16:creationId xmlns:a16="http://schemas.microsoft.com/office/drawing/2014/main" id="{A9A3056D-EA1D-60FC-199C-1007BCD5D51A}"/>
              </a:ext>
            </a:extLst>
          </p:cNvPr>
          <p:cNvPicPr>
            <a:picLocks noChangeAspect="1"/>
          </p:cNvPicPr>
          <p:nvPr/>
        </p:nvPicPr>
        <p:blipFill>
          <a:blip r:embed="rId5"/>
          <a:stretch>
            <a:fillRect/>
          </a:stretch>
        </p:blipFill>
        <p:spPr>
          <a:xfrm>
            <a:off x="9315823" y="1497672"/>
            <a:ext cx="2984558" cy="2300794"/>
          </a:xfrm>
          <a:prstGeom prst="rect">
            <a:avLst/>
          </a:prstGeom>
        </p:spPr>
      </p:pic>
      <p:pic>
        <p:nvPicPr>
          <p:cNvPr id="29" name="Picture 28">
            <a:extLst>
              <a:ext uri="{FF2B5EF4-FFF2-40B4-BE49-F238E27FC236}">
                <a16:creationId xmlns:a16="http://schemas.microsoft.com/office/drawing/2014/main" id="{AF83DEE3-69A9-9021-943A-469B9DD835DD}"/>
              </a:ext>
            </a:extLst>
          </p:cNvPr>
          <p:cNvPicPr>
            <a:picLocks noChangeAspect="1"/>
          </p:cNvPicPr>
          <p:nvPr/>
        </p:nvPicPr>
        <p:blipFill>
          <a:blip r:embed="rId6"/>
          <a:stretch>
            <a:fillRect/>
          </a:stretch>
        </p:blipFill>
        <p:spPr>
          <a:xfrm>
            <a:off x="3045321" y="4711262"/>
            <a:ext cx="3094079" cy="2397911"/>
          </a:xfrm>
          <a:prstGeom prst="rect">
            <a:avLst/>
          </a:prstGeom>
        </p:spPr>
      </p:pic>
      <p:pic>
        <p:nvPicPr>
          <p:cNvPr id="31" name="Picture 30">
            <a:extLst>
              <a:ext uri="{FF2B5EF4-FFF2-40B4-BE49-F238E27FC236}">
                <a16:creationId xmlns:a16="http://schemas.microsoft.com/office/drawing/2014/main" id="{3DCB4C5E-AECA-DAD2-2013-F8CC8469304D}"/>
              </a:ext>
            </a:extLst>
          </p:cNvPr>
          <p:cNvPicPr>
            <a:picLocks noChangeAspect="1"/>
          </p:cNvPicPr>
          <p:nvPr/>
        </p:nvPicPr>
        <p:blipFill>
          <a:blip r:embed="rId7"/>
          <a:stretch>
            <a:fillRect/>
          </a:stretch>
        </p:blipFill>
        <p:spPr>
          <a:xfrm>
            <a:off x="8248701" y="4711262"/>
            <a:ext cx="2525508" cy="217724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5809" y="594598"/>
            <a:ext cx="5741432" cy="536734"/>
          </a:xfrm>
          <a:prstGeom prst="rect">
            <a:avLst/>
          </a:prstGeom>
          <a:noFill/>
          <a:ln/>
        </p:spPr>
        <p:txBody>
          <a:bodyPr wrap="none" lIns="0" tIns="0" rIns="0" bIns="0" rtlCol="0" anchor="t"/>
          <a:lstStyle/>
          <a:p>
            <a:pPr marL="0" indent="0" algn="l">
              <a:lnSpc>
                <a:spcPts val="4200"/>
              </a:lnSpc>
              <a:buNone/>
            </a:pPr>
            <a:r>
              <a:rPr lang="en-US" sz="3350" b="1" dirty="0">
                <a:solidFill>
                  <a:srgbClr val="FFFFFF"/>
                </a:solidFill>
                <a:latin typeface="Montserrat Bold" pitchFamily="34" charset="0"/>
                <a:ea typeface="Montserrat Bold" pitchFamily="34" charset="-122"/>
                <a:cs typeface="Montserrat Bold" pitchFamily="34" charset="-120"/>
              </a:rPr>
              <a:t>Deployment Architecture</a:t>
            </a:r>
            <a:endParaRPr lang="en-US" sz="3350" dirty="0"/>
          </a:p>
        </p:txBody>
      </p:sp>
      <p:sp>
        <p:nvSpPr>
          <p:cNvPr id="3" name="Text 1"/>
          <p:cNvSpPr/>
          <p:nvPr/>
        </p:nvSpPr>
        <p:spPr>
          <a:xfrm>
            <a:off x="755809" y="1461968"/>
            <a:ext cx="13118783" cy="265628"/>
          </a:xfrm>
          <a:prstGeom prst="rect">
            <a:avLst/>
          </a:prstGeom>
          <a:noFill/>
          <a:ln/>
        </p:spPr>
        <p:txBody>
          <a:bodyPr wrap="none" lIns="0" tIns="0" rIns="0" bIns="0" rtlCol="0" anchor="t"/>
          <a:lstStyle/>
          <a:p>
            <a:pPr marL="0" indent="0" algn="l">
              <a:lnSpc>
                <a:spcPts val="2050"/>
              </a:lnSpc>
              <a:buNone/>
            </a:pPr>
            <a:r>
              <a:rPr lang="en-US" sz="1450" dirty="0">
                <a:solidFill>
                  <a:srgbClr val="E2E6E9"/>
                </a:solidFill>
                <a:latin typeface="Source Sans 3" pitchFamily="34" charset="0"/>
                <a:ea typeface="Source Sans 3" pitchFamily="34" charset="-122"/>
                <a:cs typeface="Source Sans 3" pitchFamily="34" charset="-120"/>
              </a:rPr>
              <a:t>The application is hosted on Render's free tier, with code managed through GitHub and data stored in MongoDB Atlas cloud infrastructure.</a:t>
            </a:r>
            <a:endParaRPr lang="en-US" sz="1450" dirty="0"/>
          </a:p>
        </p:txBody>
      </p:sp>
      <p:sp>
        <p:nvSpPr>
          <p:cNvPr id="4" name="Shape 2"/>
          <p:cNvSpPr/>
          <p:nvPr/>
        </p:nvSpPr>
        <p:spPr>
          <a:xfrm>
            <a:off x="1039178" y="2385893"/>
            <a:ext cx="6193274" cy="188952"/>
          </a:xfrm>
          <a:prstGeom prst="roundRect">
            <a:avLst>
              <a:gd name="adj" fmla="val 15002"/>
            </a:avLst>
          </a:prstGeom>
          <a:solidFill>
            <a:srgbClr val="303132"/>
          </a:solidFill>
          <a:ln/>
        </p:spPr>
      </p:sp>
      <p:sp>
        <p:nvSpPr>
          <p:cNvPr id="5" name="Shape 3"/>
          <p:cNvSpPr/>
          <p:nvPr/>
        </p:nvSpPr>
        <p:spPr>
          <a:xfrm>
            <a:off x="755809" y="2196882"/>
            <a:ext cx="566857" cy="566857"/>
          </a:xfrm>
          <a:prstGeom prst="roundRect">
            <a:avLst>
              <a:gd name="adj" fmla="val 80655"/>
            </a:avLst>
          </a:prstGeom>
          <a:solidFill>
            <a:srgbClr val="303132"/>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7493" y="2338685"/>
            <a:ext cx="283369" cy="283369"/>
          </a:xfrm>
          <a:prstGeom prst="rect">
            <a:avLst/>
          </a:prstGeom>
        </p:spPr>
      </p:pic>
      <p:sp>
        <p:nvSpPr>
          <p:cNvPr id="7" name="Text 4"/>
          <p:cNvSpPr/>
          <p:nvPr/>
        </p:nvSpPr>
        <p:spPr>
          <a:xfrm>
            <a:off x="944761" y="2929057"/>
            <a:ext cx="2982039" cy="268486"/>
          </a:xfrm>
          <a:prstGeom prst="rect">
            <a:avLst/>
          </a:prstGeom>
          <a:noFill/>
          <a:ln/>
        </p:spPr>
        <p:txBody>
          <a:bodyPr wrap="none" lIns="0" tIns="0" rIns="0" bIns="0" rtlCol="0" anchor="t"/>
          <a:lstStyle/>
          <a:p>
            <a:pPr marL="0" indent="0" algn="l">
              <a:lnSpc>
                <a:spcPts val="2100"/>
              </a:lnSpc>
              <a:buNone/>
            </a:pPr>
            <a:r>
              <a:rPr lang="en-US" sz="1650" b="1" dirty="0">
                <a:solidFill>
                  <a:srgbClr val="E2E6E9"/>
                </a:solidFill>
                <a:latin typeface="Montserrat Bold" pitchFamily="34" charset="0"/>
                <a:ea typeface="Montserrat Bold" pitchFamily="34" charset="-122"/>
                <a:cs typeface="Montserrat Bold" pitchFamily="34" charset="-120"/>
              </a:rPr>
              <a:t>Source Code Management</a:t>
            </a:r>
            <a:endParaRPr lang="en-US" sz="1650" dirty="0"/>
          </a:p>
        </p:txBody>
      </p:sp>
      <p:sp>
        <p:nvSpPr>
          <p:cNvPr id="8" name="Text 5"/>
          <p:cNvSpPr/>
          <p:nvPr/>
        </p:nvSpPr>
        <p:spPr>
          <a:xfrm>
            <a:off x="944761" y="3296722"/>
            <a:ext cx="6098857" cy="531257"/>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Source Sans 3" pitchFamily="34" charset="0"/>
                <a:ea typeface="Source Sans 3" pitchFamily="34" charset="-122"/>
                <a:cs typeface="Source Sans 3" pitchFamily="34" charset="-120"/>
              </a:rPr>
              <a:t>Code hosted on GitHub repository: </a:t>
            </a:r>
            <a:r>
              <a:rPr lang="en-US" sz="1450" b="1" dirty="0">
                <a:solidFill>
                  <a:srgbClr val="E2E6E9"/>
                </a:solidFill>
                <a:latin typeface="Source Sans 3" pitchFamily="34" charset="0"/>
                <a:ea typeface="Source Sans 3" pitchFamily="34" charset="-122"/>
                <a:cs typeface="Source Sans 3" pitchFamily="34" charset="-120"/>
              </a:rPr>
              <a:t>rickyriffs16/smart-study-planner</a:t>
            </a:r>
            <a:r>
              <a:rPr lang="en-US" sz="1450" dirty="0">
                <a:solidFill>
                  <a:srgbClr val="E2E6E9"/>
                </a:solidFill>
                <a:latin typeface="Source Sans 3" pitchFamily="34" charset="0"/>
                <a:ea typeface="Source Sans 3" pitchFamily="34" charset="-122"/>
                <a:cs typeface="Source Sans 3" pitchFamily="34" charset="-120"/>
              </a:rPr>
              <a:t>. Version control tracks all changes and enables collaboration.</a:t>
            </a:r>
            <a:endParaRPr lang="en-US" sz="1450" dirty="0"/>
          </a:p>
        </p:txBody>
      </p:sp>
      <p:sp>
        <p:nvSpPr>
          <p:cNvPr id="9" name="Shape 6"/>
          <p:cNvSpPr/>
          <p:nvPr/>
        </p:nvSpPr>
        <p:spPr>
          <a:xfrm>
            <a:off x="7681198" y="2102525"/>
            <a:ext cx="6193274" cy="188952"/>
          </a:xfrm>
          <a:prstGeom prst="roundRect">
            <a:avLst>
              <a:gd name="adj" fmla="val 15002"/>
            </a:avLst>
          </a:prstGeom>
          <a:solidFill>
            <a:srgbClr val="303132"/>
          </a:solidFill>
          <a:ln/>
        </p:spPr>
      </p:sp>
      <p:sp>
        <p:nvSpPr>
          <p:cNvPr id="10" name="Shape 7"/>
          <p:cNvSpPr/>
          <p:nvPr/>
        </p:nvSpPr>
        <p:spPr>
          <a:xfrm>
            <a:off x="7397829" y="1913513"/>
            <a:ext cx="566857" cy="566857"/>
          </a:xfrm>
          <a:prstGeom prst="roundRect">
            <a:avLst>
              <a:gd name="adj" fmla="val 80655"/>
            </a:avLst>
          </a:prstGeom>
          <a:solidFill>
            <a:srgbClr val="303132"/>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39514" y="2055316"/>
            <a:ext cx="283369" cy="283369"/>
          </a:xfrm>
          <a:prstGeom prst="rect">
            <a:avLst/>
          </a:prstGeom>
        </p:spPr>
      </p:pic>
      <p:sp>
        <p:nvSpPr>
          <p:cNvPr id="12" name="Text 8"/>
          <p:cNvSpPr/>
          <p:nvPr/>
        </p:nvSpPr>
        <p:spPr>
          <a:xfrm>
            <a:off x="7586782" y="2645688"/>
            <a:ext cx="2812613" cy="268486"/>
          </a:xfrm>
          <a:prstGeom prst="rect">
            <a:avLst/>
          </a:prstGeom>
          <a:noFill/>
          <a:ln/>
        </p:spPr>
        <p:txBody>
          <a:bodyPr wrap="none" lIns="0" tIns="0" rIns="0" bIns="0" rtlCol="0" anchor="t"/>
          <a:lstStyle/>
          <a:p>
            <a:pPr marL="0" indent="0" algn="l">
              <a:lnSpc>
                <a:spcPts val="2100"/>
              </a:lnSpc>
              <a:buNone/>
            </a:pPr>
            <a:r>
              <a:rPr lang="en-US" sz="1650" b="1" dirty="0">
                <a:solidFill>
                  <a:srgbClr val="E2E6E9"/>
                </a:solidFill>
                <a:latin typeface="Montserrat Bold" pitchFamily="34" charset="0"/>
                <a:ea typeface="Montserrat Bold" pitchFamily="34" charset="-122"/>
                <a:cs typeface="Montserrat Bold" pitchFamily="34" charset="-120"/>
              </a:rPr>
              <a:t>Render Hosting Platform</a:t>
            </a:r>
            <a:endParaRPr lang="en-US" sz="1650" dirty="0"/>
          </a:p>
        </p:txBody>
      </p:sp>
      <p:sp>
        <p:nvSpPr>
          <p:cNvPr id="13" name="Text 9"/>
          <p:cNvSpPr/>
          <p:nvPr/>
        </p:nvSpPr>
        <p:spPr>
          <a:xfrm>
            <a:off x="7586782" y="3013353"/>
            <a:ext cx="6098857" cy="531257"/>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Source Sans 3" pitchFamily="34" charset="0"/>
                <a:ea typeface="Source Sans 3" pitchFamily="34" charset="-122"/>
                <a:cs typeface="Source Sans 3" pitchFamily="34" charset="-120"/>
              </a:rPr>
              <a:t>Free tier Node.js web service automatically deploys on every git push. Serves the application at </a:t>
            </a:r>
            <a:r>
              <a:rPr lang="en-US" sz="1450" b="1" dirty="0">
                <a:solidFill>
                  <a:srgbClr val="E2E6E9"/>
                </a:solidFill>
                <a:latin typeface="Source Sans 3" pitchFamily="34" charset="0"/>
                <a:ea typeface="Source Sans 3" pitchFamily="34" charset="-122"/>
                <a:cs typeface="Source Sans 3" pitchFamily="34" charset="-120"/>
              </a:rPr>
              <a:t>smart-study-planner-4zb5.onrender.com</a:t>
            </a:r>
            <a:endParaRPr lang="en-US" sz="1450" dirty="0"/>
          </a:p>
        </p:txBody>
      </p:sp>
      <p:sp>
        <p:nvSpPr>
          <p:cNvPr id="14" name="Shape 10"/>
          <p:cNvSpPr/>
          <p:nvPr/>
        </p:nvSpPr>
        <p:spPr>
          <a:xfrm>
            <a:off x="1039178" y="4654510"/>
            <a:ext cx="6193274" cy="188952"/>
          </a:xfrm>
          <a:prstGeom prst="roundRect">
            <a:avLst>
              <a:gd name="adj" fmla="val 15002"/>
            </a:avLst>
          </a:prstGeom>
          <a:solidFill>
            <a:srgbClr val="303132"/>
          </a:solidFill>
          <a:ln/>
        </p:spPr>
      </p:sp>
      <p:sp>
        <p:nvSpPr>
          <p:cNvPr id="15" name="Shape 11"/>
          <p:cNvSpPr/>
          <p:nvPr/>
        </p:nvSpPr>
        <p:spPr>
          <a:xfrm>
            <a:off x="755809" y="4465499"/>
            <a:ext cx="566857" cy="566857"/>
          </a:xfrm>
          <a:prstGeom prst="roundRect">
            <a:avLst>
              <a:gd name="adj" fmla="val 80655"/>
            </a:avLst>
          </a:prstGeom>
          <a:solidFill>
            <a:srgbClr val="303132"/>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7493" y="4607302"/>
            <a:ext cx="283369" cy="283369"/>
          </a:xfrm>
          <a:prstGeom prst="rect">
            <a:avLst/>
          </a:prstGeom>
        </p:spPr>
      </p:pic>
      <p:sp>
        <p:nvSpPr>
          <p:cNvPr id="17" name="Text 12"/>
          <p:cNvSpPr/>
          <p:nvPr/>
        </p:nvSpPr>
        <p:spPr>
          <a:xfrm>
            <a:off x="944761" y="5197673"/>
            <a:ext cx="2147411" cy="268486"/>
          </a:xfrm>
          <a:prstGeom prst="rect">
            <a:avLst/>
          </a:prstGeom>
          <a:noFill/>
          <a:ln/>
        </p:spPr>
        <p:txBody>
          <a:bodyPr wrap="none" lIns="0" tIns="0" rIns="0" bIns="0" rtlCol="0" anchor="t"/>
          <a:lstStyle/>
          <a:p>
            <a:pPr marL="0" indent="0" algn="l">
              <a:lnSpc>
                <a:spcPts val="2100"/>
              </a:lnSpc>
              <a:buNone/>
            </a:pPr>
            <a:r>
              <a:rPr lang="en-US" sz="1650" b="1" dirty="0">
                <a:solidFill>
                  <a:srgbClr val="E2E6E9"/>
                </a:solidFill>
                <a:latin typeface="Montserrat Bold" pitchFamily="34" charset="0"/>
                <a:ea typeface="Montserrat Bold" pitchFamily="34" charset="-122"/>
                <a:cs typeface="Montserrat Bold" pitchFamily="34" charset="-120"/>
              </a:rPr>
              <a:t>MongoDB Atlas</a:t>
            </a:r>
            <a:endParaRPr lang="en-US" sz="1650" dirty="0"/>
          </a:p>
        </p:txBody>
      </p:sp>
      <p:sp>
        <p:nvSpPr>
          <p:cNvPr id="18" name="Text 13"/>
          <p:cNvSpPr/>
          <p:nvPr/>
        </p:nvSpPr>
        <p:spPr>
          <a:xfrm>
            <a:off x="944761" y="5565338"/>
            <a:ext cx="6098857" cy="531257"/>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Source Sans 3" pitchFamily="34" charset="0"/>
                <a:ea typeface="Source Sans 3" pitchFamily="34" charset="-122"/>
                <a:cs typeface="Source Sans 3" pitchFamily="34" charset="-120"/>
              </a:rPr>
              <a:t>M0 Free Cluster hosted on AWS Mumbai region. Stores user accounts, tasks, notes, and analytics data with automatic backups.</a:t>
            </a:r>
            <a:endParaRPr lang="en-US" sz="1450" dirty="0"/>
          </a:p>
        </p:txBody>
      </p:sp>
      <p:sp>
        <p:nvSpPr>
          <p:cNvPr id="19" name="Shape 14"/>
          <p:cNvSpPr/>
          <p:nvPr/>
        </p:nvSpPr>
        <p:spPr>
          <a:xfrm>
            <a:off x="7681198" y="4371142"/>
            <a:ext cx="6193274" cy="188952"/>
          </a:xfrm>
          <a:prstGeom prst="roundRect">
            <a:avLst>
              <a:gd name="adj" fmla="val 15002"/>
            </a:avLst>
          </a:prstGeom>
          <a:solidFill>
            <a:srgbClr val="303132"/>
          </a:solidFill>
          <a:ln/>
        </p:spPr>
      </p:sp>
      <p:sp>
        <p:nvSpPr>
          <p:cNvPr id="20" name="Shape 15"/>
          <p:cNvSpPr/>
          <p:nvPr/>
        </p:nvSpPr>
        <p:spPr>
          <a:xfrm>
            <a:off x="7397829" y="4182130"/>
            <a:ext cx="566857" cy="566857"/>
          </a:xfrm>
          <a:prstGeom prst="roundRect">
            <a:avLst>
              <a:gd name="adj" fmla="val 80655"/>
            </a:avLst>
          </a:prstGeom>
          <a:solidFill>
            <a:srgbClr val="303132"/>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39514" y="4323933"/>
            <a:ext cx="283369" cy="283369"/>
          </a:xfrm>
          <a:prstGeom prst="rect">
            <a:avLst/>
          </a:prstGeom>
        </p:spPr>
      </p:pic>
      <p:sp>
        <p:nvSpPr>
          <p:cNvPr id="22" name="Text 16"/>
          <p:cNvSpPr/>
          <p:nvPr/>
        </p:nvSpPr>
        <p:spPr>
          <a:xfrm>
            <a:off x="7586782" y="4914305"/>
            <a:ext cx="2147411" cy="268486"/>
          </a:xfrm>
          <a:prstGeom prst="rect">
            <a:avLst/>
          </a:prstGeom>
          <a:noFill/>
          <a:ln/>
        </p:spPr>
        <p:txBody>
          <a:bodyPr wrap="none" lIns="0" tIns="0" rIns="0" bIns="0" rtlCol="0" anchor="t"/>
          <a:lstStyle/>
          <a:p>
            <a:pPr marL="0" indent="0" algn="l">
              <a:lnSpc>
                <a:spcPts val="2100"/>
              </a:lnSpc>
              <a:buNone/>
            </a:pPr>
            <a:r>
              <a:rPr lang="en-US" sz="1650" b="1" dirty="0">
                <a:solidFill>
                  <a:srgbClr val="E2E6E9"/>
                </a:solidFill>
                <a:latin typeface="Montserrat Bold" pitchFamily="34" charset="0"/>
                <a:ea typeface="Montserrat Bold" pitchFamily="34" charset="-122"/>
                <a:cs typeface="Montserrat Bold" pitchFamily="34" charset="-120"/>
              </a:rPr>
              <a:t>Public Access</a:t>
            </a:r>
            <a:endParaRPr lang="en-US" sz="1650" dirty="0"/>
          </a:p>
        </p:txBody>
      </p:sp>
      <p:sp>
        <p:nvSpPr>
          <p:cNvPr id="23" name="Text 17"/>
          <p:cNvSpPr/>
          <p:nvPr/>
        </p:nvSpPr>
        <p:spPr>
          <a:xfrm>
            <a:off x="7586782" y="5281970"/>
            <a:ext cx="6098857" cy="531257"/>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Source Sans 3" pitchFamily="34" charset="0"/>
                <a:ea typeface="Source Sans 3" pitchFamily="34" charset="-122"/>
                <a:cs typeface="Source Sans 3" pitchFamily="34" charset="-120"/>
              </a:rPr>
              <a:t>Application accessible worldwide at dedicated URL. HTTPS encryption secures all data transmission between clients and servers.</a:t>
            </a:r>
            <a:endParaRPr lang="en-US" sz="1450" dirty="0"/>
          </a:p>
        </p:txBody>
      </p:sp>
      <p:sp>
        <p:nvSpPr>
          <p:cNvPr id="24" name="Text 18"/>
          <p:cNvSpPr/>
          <p:nvPr/>
        </p:nvSpPr>
        <p:spPr>
          <a:xfrm>
            <a:off x="755809" y="6533555"/>
            <a:ext cx="2576989" cy="322064"/>
          </a:xfrm>
          <a:prstGeom prst="rect">
            <a:avLst/>
          </a:prstGeom>
          <a:noFill/>
          <a:ln/>
        </p:spPr>
        <p:txBody>
          <a:bodyPr wrap="none" lIns="0" tIns="0" rIns="0" bIns="0" rtlCol="0" anchor="t"/>
          <a:lstStyle/>
          <a:p>
            <a:pPr marL="0" indent="0" algn="l">
              <a:lnSpc>
                <a:spcPts val="2500"/>
              </a:lnSpc>
              <a:buNone/>
            </a:pPr>
            <a:r>
              <a:rPr lang="en-US" sz="2000" b="1" dirty="0">
                <a:solidFill>
                  <a:srgbClr val="FFFFFF"/>
                </a:solidFill>
                <a:latin typeface="Montserrat Bold" pitchFamily="34" charset="0"/>
                <a:ea typeface="Montserrat Bold" pitchFamily="34" charset="-122"/>
                <a:cs typeface="Montserrat Bold" pitchFamily="34" charset="-120"/>
              </a:rPr>
              <a:t>Live Deployment</a:t>
            </a:r>
            <a:endParaRPr lang="en-US" sz="2000" dirty="0"/>
          </a:p>
        </p:txBody>
      </p:sp>
      <p:sp>
        <p:nvSpPr>
          <p:cNvPr id="25" name="Text 19"/>
          <p:cNvSpPr/>
          <p:nvPr/>
        </p:nvSpPr>
        <p:spPr>
          <a:xfrm>
            <a:off x="755809" y="7103626"/>
            <a:ext cx="13118783" cy="531257"/>
          </a:xfrm>
          <a:prstGeom prst="rect">
            <a:avLst/>
          </a:prstGeom>
          <a:noFill/>
          <a:ln/>
        </p:spPr>
        <p:txBody>
          <a:bodyPr wrap="square" lIns="0" tIns="0" rIns="0" bIns="0" rtlCol="0" anchor="t"/>
          <a:lstStyle/>
          <a:p>
            <a:pPr marL="0" indent="0" algn="l">
              <a:lnSpc>
                <a:spcPts val="2050"/>
              </a:lnSpc>
              <a:buNone/>
            </a:pPr>
            <a:r>
              <a:rPr lang="en-US" sz="1450" dirty="0">
                <a:solidFill>
                  <a:srgbClr val="E2E6E9"/>
                </a:solidFill>
                <a:latin typeface="Source Sans 3" pitchFamily="34" charset="0"/>
                <a:ea typeface="Source Sans 3" pitchFamily="34" charset="-122"/>
                <a:cs typeface="Source Sans 3" pitchFamily="34" charset="-120"/>
              </a:rPr>
              <a:t>The application is publicly accessible at </a:t>
            </a:r>
            <a:r>
              <a:rPr lang="en-US" sz="1450" u="sng" dirty="0">
                <a:solidFill>
                  <a:srgbClr val="FFFFFF"/>
                </a:solidFill>
                <a:latin typeface="Source Sans 3" pitchFamily="34" charset="0"/>
                <a:ea typeface="Source Sans 3" pitchFamily="34" charset="-122"/>
                <a:cs typeface="Source Sans 3" pitchFamily="34" charset="-120"/>
                <a:hlinkClick r:id="rId7">
                  <a:extLst>
                    <a:ext uri="{A12FA001-AC4F-418D-AE19-62706E023703}">
                      <ahyp:hlinkClr xmlns:ahyp="http://schemas.microsoft.com/office/drawing/2018/hyperlinkcolor" val="tx"/>
                    </a:ext>
                  </a:extLst>
                </a:hlinkClick>
              </a:rPr>
              <a:t>smart-study-planner-4zb5.onrender.com</a:t>
            </a:r>
            <a:r>
              <a:rPr lang="en-US" sz="1450" dirty="0">
                <a:solidFill>
                  <a:srgbClr val="E2E6E9"/>
                </a:solidFill>
                <a:latin typeface="Source Sans 3" pitchFamily="34" charset="0"/>
                <a:ea typeface="Source Sans 3" pitchFamily="34" charset="-122"/>
                <a:cs typeface="Source Sans 3" pitchFamily="34" charset="-120"/>
              </a:rPr>
              <a:t>. Render automatically rebuilds and deploys the application whenever new code is pushed to the main branch of the GitHub repository.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04280" y="541972"/>
            <a:ext cx="4450913" cy="508040"/>
          </a:xfrm>
          <a:prstGeom prst="rect">
            <a:avLst/>
          </a:prstGeom>
          <a:noFill/>
          <a:ln/>
        </p:spPr>
        <p:txBody>
          <a:bodyPr wrap="none" lIns="0" tIns="0" rIns="0" bIns="0" rtlCol="0" anchor="t"/>
          <a:lstStyle/>
          <a:p>
            <a:pPr marL="0" indent="0" algn="l">
              <a:lnSpc>
                <a:spcPts val="4000"/>
              </a:lnSpc>
              <a:buNone/>
            </a:pPr>
            <a:r>
              <a:rPr lang="en-US" sz="3200" b="1" dirty="0">
                <a:solidFill>
                  <a:srgbClr val="FFFFFF"/>
                </a:solidFill>
                <a:latin typeface="Montserrat Bold" pitchFamily="34" charset="0"/>
                <a:ea typeface="Montserrat Bold" pitchFamily="34" charset="-122"/>
                <a:cs typeface="Montserrat Bold" pitchFamily="34" charset="-120"/>
              </a:rPr>
              <a:t>Results &amp; Conclusion</a:t>
            </a:r>
            <a:endParaRPr lang="en-US" sz="3200" dirty="0"/>
          </a:p>
        </p:txBody>
      </p:sp>
      <p:sp>
        <p:nvSpPr>
          <p:cNvPr id="3" name="Text 1"/>
          <p:cNvSpPr/>
          <p:nvPr/>
        </p:nvSpPr>
        <p:spPr>
          <a:xfrm>
            <a:off x="904280" y="1420297"/>
            <a:ext cx="2438876" cy="304800"/>
          </a:xfrm>
          <a:prstGeom prst="rect">
            <a:avLst/>
          </a:prstGeom>
          <a:noFill/>
          <a:ln/>
        </p:spPr>
        <p:txBody>
          <a:bodyPr wrap="non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Project Outcomes</a:t>
            </a:r>
            <a:endParaRPr lang="en-US" sz="1900" dirty="0"/>
          </a:p>
        </p:txBody>
      </p:sp>
      <p:sp>
        <p:nvSpPr>
          <p:cNvPr id="4" name="Text 2"/>
          <p:cNvSpPr/>
          <p:nvPr/>
        </p:nvSpPr>
        <p:spPr>
          <a:xfrm>
            <a:off x="904280" y="1873210"/>
            <a:ext cx="6192798" cy="735449"/>
          </a:xfrm>
          <a:prstGeom prst="rect">
            <a:avLst/>
          </a:prstGeom>
          <a:noFill/>
          <a:ln/>
        </p:spPr>
        <p:txBody>
          <a:bodyPr wrap="square" lIns="0" tIns="0" rIns="0" bIns="0" rtlCol="0" anchor="t"/>
          <a:lstStyle/>
          <a:p>
            <a:pPr marL="0" indent="0" algn="l">
              <a:lnSpc>
                <a:spcPts val="1900"/>
              </a:lnSpc>
              <a:buNone/>
            </a:pPr>
            <a:r>
              <a:rPr lang="en-US" sz="1400" dirty="0">
                <a:solidFill>
                  <a:srgbClr val="E2E6E9"/>
                </a:solidFill>
                <a:latin typeface="Source Sans 3" pitchFamily="34" charset="0"/>
                <a:ea typeface="Source Sans 3" pitchFamily="34" charset="-122"/>
                <a:cs typeface="Source Sans 3" pitchFamily="34" charset="-120"/>
              </a:rPr>
              <a:t>The Smart Study Planner successfully addresses the core challenges of academic task management. The deployed application combines intelligent scheduling, time management, analytics, and note-taking into a single accessible platform.</a:t>
            </a:r>
            <a:endParaRPr lang="en-US" sz="1400" dirty="0"/>
          </a:p>
        </p:txBody>
      </p:sp>
      <p:sp>
        <p:nvSpPr>
          <p:cNvPr id="5" name="Text 3"/>
          <p:cNvSpPr/>
          <p:nvPr/>
        </p:nvSpPr>
        <p:spPr>
          <a:xfrm>
            <a:off x="904280" y="2741890"/>
            <a:ext cx="6192798" cy="2710458"/>
          </a:xfrm>
          <a:prstGeom prst="rect">
            <a:avLst/>
          </a:prstGeom>
          <a:noFill/>
          <a:ln/>
        </p:spPr>
        <p:txBody>
          <a:bodyPr wrap="square" lIns="0" tIns="0" rIns="0" bIns="0" rtlCol="0" anchor="t"/>
          <a:lstStyle/>
          <a:p>
            <a:pPr marL="342900" indent="-342900" algn="l">
              <a:lnSpc>
                <a:spcPts val="1900"/>
              </a:lnSpc>
              <a:buSzPct val="100000"/>
              <a:buChar char="•"/>
            </a:pPr>
            <a:r>
              <a:rPr lang="en-US" sz="1400" dirty="0">
                <a:solidFill>
                  <a:srgbClr val="E2E6E9"/>
                </a:solidFill>
                <a:latin typeface="Source Sans 3" pitchFamily="34" charset="0"/>
                <a:ea typeface="Source Sans 3" pitchFamily="34" charset="-122"/>
                <a:cs typeface="Source Sans 3" pitchFamily="34" charset="-120"/>
              </a:rPr>
              <a:t>Fully functional web application accessible at </a:t>
            </a:r>
            <a:r>
              <a:rPr lang="en-US" sz="1400" u="sng" dirty="0">
                <a:solidFill>
                  <a:srgbClr val="FFFFFF"/>
                </a:solidFill>
                <a:latin typeface="Source Sans 3" pitchFamily="34" charset="0"/>
                <a:ea typeface="Source Sans 3" pitchFamily="34" charset="-122"/>
                <a:cs typeface="Source Sans 3" pitchFamily="34" charset="-120"/>
                <a:hlinkClick r:id="rId3">
                  <a:extLst>
                    <a:ext uri="{A12FA001-AC4F-418D-AE19-62706E023703}">
                      <ahyp:hlinkClr xmlns:ahyp="http://schemas.microsoft.com/office/drawing/2018/hyperlinkcolor" val="tx"/>
                    </a:ext>
                  </a:extLst>
                </a:hlinkClick>
              </a:rPr>
              <a:t>smart-study-planner-4zb5.onrender.com</a:t>
            </a:r>
            <a:endParaRPr lang="en-US" sz="1400" dirty="0"/>
          </a:p>
          <a:p>
            <a:pPr marL="342900" indent="-342900" algn="l">
              <a:lnSpc>
                <a:spcPts val="1900"/>
              </a:lnSpc>
              <a:buSzPct val="100000"/>
              <a:buChar char="•"/>
            </a:pPr>
            <a:r>
              <a:rPr lang="en-US" sz="1400" dirty="0">
                <a:solidFill>
                  <a:srgbClr val="E2E6E9"/>
                </a:solidFill>
                <a:latin typeface="Source Sans 3" pitchFamily="34" charset="0"/>
                <a:ea typeface="Source Sans 3" pitchFamily="34" charset="-122"/>
                <a:cs typeface="Source Sans 3" pitchFamily="34" charset="-120"/>
              </a:rPr>
              <a:t>Smart urgency algorithm automatically sorts tasks by priority and deadline proximity</a:t>
            </a:r>
            <a:endParaRPr lang="en-US" sz="1400" dirty="0"/>
          </a:p>
          <a:p>
            <a:pPr marL="342900" indent="-342900" algn="l">
              <a:lnSpc>
                <a:spcPts val="1900"/>
              </a:lnSpc>
              <a:buSzPct val="100000"/>
              <a:buChar char="•"/>
            </a:pPr>
            <a:r>
              <a:rPr lang="en-US" sz="1400" dirty="0">
                <a:solidFill>
                  <a:srgbClr val="E2E6E9"/>
                </a:solidFill>
                <a:latin typeface="Source Sans 3" pitchFamily="34" charset="0"/>
                <a:ea typeface="Source Sans 3" pitchFamily="34" charset="-122"/>
                <a:cs typeface="Source Sans 3" pitchFamily="34" charset="-120"/>
              </a:rPr>
              <a:t>Four dedicated views: Dashboard, Schedule, Analytics, and Notes with seamless navigation</a:t>
            </a:r>
            <a:endParaRPr lang="en-US" sz="1400" dirty="0"/>
          </a:p>
          <a:p>
            <a:pPr marL="342900" indent="-342900" algn="l">
              <a:lnSpc>
                <a:spcPts val="1900"/>
              </a:lnSpc>
              <a:buSzPct val="100000"/>
              <a:buChar char="•"/>
            </a:pPr>
            <a:r>
              <a:rPr lang="en-US" sz="1400" dirty="0">
                <a:solidFill>
                  <a:srgbClr val="E2E6E9"/>
                </a:solidFill>
                <a:latin typeface="Source Sans 3" pitchFamily="34" charset="0"/>
                <a:ea typeface="Source Sans 3" pitchFamily="34" charset="-122"/>
                <a:cs typeface="Source Sans 3" pitchFamily="34" charset="-120"/>
              </a:rPr>
              <a:t>Real-time charts update automatically on every task addition or completion</a:t>
            </a:r>
            <a:endParaRPr lang="en-US" sz="1400" dirty="0"/>
          </a:p>
          <a:p>
            <a:pPr marL="342900" indent="-342900" algn="l">
              <a:lnSpc>
                <a:spcPts val="1900"/>
              </a:lnSpc>
              <a:buSzPct val="100000"/>
              <a:buChar char="•"/>
            </a:pPr>
            <a:r>
              <a:rPr lang="en-US" sz="1400" dirty="0">
                <a:solidFill>
                  <a:srgbClr val="E2E6E9"/>
                </a:solidFill>
                <a:latin typeface="Source Sans 3" pitchFamily="34" charset="0"/>
                <a:ea typeface="Source Sans 3" pitchFamily="34" charset="-122"/>
                <a:cs typeface="Source Sans 3" pitchFamily="34" charset="-120"/>
              </a:rPr>
              <a:t>Persistent data storage in MongoDB Atlas cloud database with automatic backups</a:t>
            </a:r>
            <a:endParaRPr lang="en-US" sz="1400" dirty="0"/>
          </a:p>
          <a:p>
            <a:pPr marL="342900" indent="-342900" algn="l">
              <a:lnSpc>
                <a:spcPts val="1900"/>
              </a:lnSpc>
              <a:buSzPct val="100000"/>
              <a:buChar char="•"/>
            </a:pPr>
            <a:r>
              <a:rPr lang="en-US" sz="1400" dirty="0">
                <a:solidFill>
                  <a:srgbClr val="E2E6E9"/>
                </a:solidFill>
                <a:latin typeface="Source Sans 3" pitchFamily="34" charset="0"/>
                <a:ea typeface="Source Sans 3" pitchFamily="34" charset="-122"/>
                <a:cs typeface="Source Sans 3" pitchFamily="34" charset="-120"/>
              </a:rPr>
              <a:t>Responsive design adapts to desktop, tablet, and mobile screen sizes</a:t>
            </a:r>
            <a:endParaRPr lang="en-US" sz="1400" dirty="0"/>
          </a:p>
        </p:txBody>
      </p:sp>
      <p:sp>
        <p:nvSpPr>
          <p:cNvPr id="6" name="Text 4"/>
          <p:cNvSpPr/>
          <p:nvPr/>
        </p:nvSpPr>
        <p:spPr>
          <a:xfrm>
            <a:off x="7540942" y="1420297"/>
            <a:ext cx="2850833" cy="304800"/>
          </a:xfrm>
          <a:prstGeom prst="rect">
            <a:avLst/>
          </a:prstGeom>
          <a:noFill/>
          <a:ln/>
        </p:spPr>
        <p:txBody>
          <a:bodyPr wrap="non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Future Enhancements</a:t>
            </a:r>
            <a:endParaRPr lang="en-US" sz="1900" dirty="0"/>
          </a:p>
        </p:txBody>
      </p:sp>
      <p:sp>
        <p:nvSpPr>
          <p:cNvPr id="7" name="Shape 5"/>
          <p:cNvSpPr/>
          <p:nvPr/>
        </p:nvSpPr>
        <p:spPr>
          <a:xfrm>
            <a:off x="7540942" y="1986617"/>
            <a:ext cx="89416" cy="89416"/>
          </a:xfrm>
          <a:prstGeom prst="roundRect">
            <a:avLst>
              <a:gd name="adj" fmla="val 511318"/>
            </a:avLst>
          </a:prstGeom>
          <a:solidFill>
            <a:srgbClr val="FFFFFF"/>
          </a:solidFill>
          <a:ln/>
        </p:spPr>
      </p:sp>
      <p:sp>
        <p:nvSpPr>
          <p:cNvPr id="8" name="Text 6"/>
          <p:cNvSpPr/>
          <p:nvPr/>
        </p:nvSpPr>
        <p:spPr>
          <a:xfrm>
            <a:off x="7778472" y="1891665"/>
            <a:ext cx="2589014" cy="253960"/>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AI-Powered Study Paths</a:t>
            </a:r>
            <a:endParaRPr lang="en-US" sz="1600" dirty="0"/>
          </a:p>
        </p:txBody>
      </p:sp>
      <p:sp>
        <p:nvSpPr>
          <p:cNvPr id="9" name="Text 7"/>
          <p:cNvSpPr/>
          <p:nvPr/>
        </p:nvSpPr>
        <p:spPr>
          <a:xfrm>
            <a:off x="7778472" y="2293739"/>
            <a:ext cx="5955268" cy="490299"/>
          </a:xfrm>
          <a:prstGeom prst="rect">
            <a:avLst/>
          </a:prstGeom>
          <a:noFill/>
          <a:ln/>
        </p:spPr>
        <p:txBody>
          <a:bodyPr wrap="square" lIns="0" tIns="0" rIns="0" bIns="0" rtlCol="0" anchor="t"/>
          <a:lstStyle/>
          <a:p>
            <a:pPr marL="0" indent="0" algn="l">
              <a:lnSpc>
                <a:spcPts val="1900"/>
              </a:lnSpc>
              <a:buNone/>
            </a:pPr>
            <a:r>
              <a:rPr lang="en-US" sz="1400" dirty="0">
                <a:solidFill>
                  <a:srgbClr val="E2E6E9"/>
                </a:solidFill>
                <a:latin typeface="Source Sans 3" pitchFamily="34" charset="0"/>
                <a:ea typeface="Source Sans 3" pitchFamily="34" charset="-122"/>
                <a:cs typeface="Source Sans 3" pitchFamily="34" charset="-120"/>
              </a:rPr>
              <a:t>Integrate OpenAI API to generate personalized study recommendations based on course syllabi and performance data.</a:t>
            </a:r>
            <a:endParaRPr lang="en-US" sz="1400" dirty="0"/>
          </a:p>
        </p:txBody>
      </p:sp>
      <p:sp>
        <p:nvSpPr>
          <p:cNvPr id="10" name="Shape 8"/>
          <p:cNvSpPr/>
          <p:nvPr/>
        </p:nvSpPr>
        <p:spPr>
          <a:xfrm>
            <a:off x="7540942" y="3175218"/>
            <a:ext cx="89416" cy="89416"/>
          </a:xfrm>
          <a:prstGeom prst="roundRect">
            <a:avLst>
              <a:gd name="adj" fmla="val 511318"/>
            </a:avLst>
          </a:prstGeom>
          <a:solidFill>
            <a:srgbClr val="FFFFFF"/>
          </a:solidFill>
          <a:ln/>
        </p:spPr>
      </p:sp>
      <p:sp>
        <p:nvSpPr>
          <p:cNvPr id="11" name="Text 9"/>
          <p:cNvSpPr/>
          <p:nvPr/>
        </p:nvSpPr>
        <p:spPr>
          <a:xfrm>
            <a:off x="7778472" y="3080266"/>
            <a:ext cx="2304217" cy="253960"/>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Browser Notifications</a:t>
            </a:r>
            <a:endParaRPr lang="en-US" sz="1600" dirty="0"/>
          </a:p>
        </p:txBody>
      </p:sp>
      <p:sp>
        <p:nvSpPr>
          <p:cNvPr id="12" name="Text 10"/>
          <p:cNvSpPr/>
          <p:nvPr/>
        </p:nvSpPr>
        <p:spPr>
          <a:xfrm>
            <a:off x="7778472" y="3482340"/>
            <a:ext cx="5955268" cy="490299"/>
          </a:xfrm>
          <a:prstGeom prst="rect">
            <a:avLst/>
          </a:prstGeom>
          <a:noFill/>
          <a:ln/>
        </p:spPr>
        <p:txBody>
          <a:bodyPr wrap="square" lIns="0" tIns="0" rIns="0" bIns="0" rtlCol="0" anchor="t"/>
          <a:lstStyle/>
          <a:p>
            <a:pPr marL="0" indent="0" algn="l">
              <a:lnSpc>
                <a:spcPts val="1900"/>
              </a:lnSpc>
              <a:buNone/>
            </a:pPr>
            <a:r>
              <a:rPr lang="en-US" sz="1400" dirty="0">
                <a:solidFill>
                  <a:srgbClr val="E2E6E9"/>
                </a:solidFill>
                <a:latin typeface="Source Sans 3" pitchFamily="34" charset="0"/>
                <a:ea typeface="Source Sans 3" pitchFamily="34" charset="-122"/>
                <a:cs typeface="Source Sans 3" pitchFamily="34" charset="-120"/>
              </a:rPr>
              <a:t>Implement push notifications for upcoming deadlines and Pomodoro session reminders, even when the app is not actively open.</a:t>
            </a:r>
            <a:endParaRPr lang="en-US" sz="1400" dirty="0"/>
          </a:p>
        </p:txBody>
      </p:sp>
      <p:sp>
        <p:nvSpPr>
          <p:cNvPr id="13" name="Shape 11"/>
          <p:cNvSpPr/>
          <p:nvPr/>
        </p:nvSpPr>
        <p:spPr>
          <a:xfrm>
            <a:off x="7540942" y="4363819"/>
            <a:ext cx="89416" cy="89416"/>
          </a:xfrm>
          <a:prstGeom prst="roundRect">
            <a:avLst>
              <a:gd name="adj" fmla="val 511318"/>
            </a:avLst>
          </a:prstGeom>
          <a:solidFill>
            <a:srgbClr val="FFFFFF"/>
          </a:solidFill>
          <a:ln/>
        </p:spPr>
      </p:sp>
      <p:sp>
        <p:nvSpPr>
          <p:cNvPr id="14" name="Text 12"/>
          <p:cNvSpPr/>
          <p:nvPr/>
        </p:nvSpPr>
        <p:spPr>
          <a:xfrm>
            <a:off x="7778472" y="4268867"/>
            <a:ext cx="2032397" cy="253960"/>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Mobile Application</a:t>
            </a:r>
            <a:endParaRPr lang="en-US" sz="1600" dirty="0"/>
          </a:p>
        </p:txBody>
      </p:sp>
      <p:sp>
        <p:nvSpPr>
          <p:cNvPr id="15" name="Text 13"/>
          <p:cNvSpPr/>
          <p:nvPr/>
        </p:nvSpPr>
        <p:spPr>
          <a:xfrm>
            <a:off x="7778472" y="4670941"/>
            <a:ext cx="5955268" cy="490299"/>
          </a:xfrm>
          <a:prstGeom prst="rect">
            <a:avLst/>
          </a:prstGeom>
          <a:noFill/>
          <a:ln/>
        </p:spPr>
        <p:txBody>
          <a:bodyPr wrap="square" lIns="0" tIns="0" rIns="0" bIns="0" rtlCol="0" anchor="t"/>
          <a:lstStyle/>
          <a:p>
            <a:pPr marL="0" indent="0" algn="l">
              <a:lnSpc>
                <a:spcPts val="1900"/>
              </a:lnSpc>
              <a:buNone/>
            </a:pPr>
            <a:r>
              <a:rPr lang="en-US" sz="1400" dirty="0">
                <a:solidFill>
                  <a:srgbClr val="E2E6E9"/>
                </a:solidFill>
                <a:latin typeface="Source Sans 3" pitchFamily="34" charset="0"/>
                <a:ea typeface="Source Sans 3" pitchFamily="34" charset="-122"/>
                <a:cs typeface="Source Sans 3" pitchFamily="34" charset="-120"/>
              </a:rPr>
              <a:t>Develop React Native mobile app version for iOS and Android, syncing data with the web platform through the same API.</a:t>
            </a:r>
            <a:endParaRPr lang="en-US" sz="1400" dirty="0"/>
          </a:p>
        </p:txBody>
      </p:sp>
      <p:sp>
        <p:nvSpPr>
          <p:cNvPr id="16" name="Shape 14"/>
          <p:cNvSpPr/>
          <p:nvPr/>
        </p:nvSpPr>
        <p:spPr>
          <a:xfrm>
            <a:off x="7540942" y="5552420"/>
            <a:ext cx="89416" cy="89416"/>
          </a:xfrm>
          <a:prstGeom prst="roundRect">
            <a:avLst>
              <a:gd name="adj" fmla="val 511318"/>
            </a:avLst>
          </a:prstGeom>
          <a:solidFill>
            <a:srgbClr val="FFFFFF"/>
          </a:solidFill>
          <a:ln/>
        </p:spPr>
      </p:sp>
      <p:sp>
        <p:nvSpPr>
          <p:cNvPr id="17" name="Text 15"/>
          <p:cNvSpPr/>
          <p:nvPr/>
        </p:nvSpPr>
        <p:spPr>
          <a:xfrm>
            <a:off x="7778472" y="5457468"/>
            <a:ext cx="2409468" cy="253960"/>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Collaboration Features</a:t>
            </a:r>
            <a:endParaRPr lang="en-US" sz="1600" dirty="0"/>
          </a:p>
        </p:txBody>
      </p:sp>
      <p:sp>
        <p:nvSpPr>
          <p:cNvPr id="18" name="Text 16"/>
          <p:cNvSpPr/>
          <p:nvPr/>
        </p:nvSpPr>
        <p:spPr>
          <a:xfrm>
            <a:off x="7778472" y="5859542"/>
            <a:ext cx="5955268" cy="490299"/>
          </a:xfrm>
          <a:prstGeom prst="rect">
            <a:avLst/>
          </a:prstGeom>
          <a:noFill/>
          <a:ln/>
        </p:spPr>
        <p:txBody>
          <a:bodyPr wrap="square" lIns="0" tIns="0" rIns="0" bIns="0" rtlCol="0" anchor="t"/>
          <a:lstStyle/>
          <a:p>
            <a:pPr marL="0" indent="0" algn="l">
              <a:lnSpc>
                <a:spcPts val="1900"/>
              </a:lnSpc>
              <a:buNone/>
            </a:pPr>
            <a:r>
              <a:rPr lang="en-US" sz="1400" dirty="0">
                <a:solidFill>
                  <a:srgbClr val="E2E6E9"/>
                </a:solidFill>
                <a:latin typeface="Source Sans 3" pitchFamily="34" charset="0"/>
                <a:ea typeface="Source Sans 3" pitchFamily="34" charset="-122"/>
                <a:cs typeface="Source Sans 3" pitchFamily="34" charset="-120"/>
              </a:rPr>
              <a:t>Add group study modes where students can share task lists, coordinate study sessions, and track team project progress.</a:t>
            </a:r>
            <a:endParaRPr lang="en-US" sz="1400" dirty="0"/>
          </a:p>
        </p:txBody>
      </p:sp>
      <p:sp>
        <p:nvSpPr>
          <p:cNvPr id="19" name="Shape 17"/>
          <p:cNvSpPr/>
          <p:nvPr/>
        </p:nvSpPr>
        <p:spPr>
          <a:xfrm>
            <a:off x="904280" y="6727627"/>
            <a:ext cx="12821841" cy="13335"/>
          </a:xfrm>
          <a:prstGeom prst="rect">
            <a:avLst/>
          </a:prstGeom>
          <a:solidFill>
            <a:srgbClr val="E2E6E9">
              <a:alpha val="50000"/>
            </a:srgbClr>
          </a:solidFill>
          <a:ln/>
        </p:spPr>
      </p:sp>
      <p:sp>
        <p:nvSpPr>
          <p:cNvPr id="20" name="Text 18"/>
          <p:cNvSpPr/>
          <p:nvPr/>
        </p:nvSpPr>
        <p:spPr>
          <a:xfrm>
            <a:off x="904280" y="6952178"/>
            <a:ext cx="12821841" cy="735449"/>
          </a:xfrm>
          <a:prstGeom prst="rect">
            <a:avLst/>
          </a:prstGeom>
          <a:noFill/>
          <a:ln/>
        </p:spPr>
        <p:txBody>
          <a:bodyPr wrap="square" lIns="0" tIns="0" rIns="0" bIns="0" rtlCol="0" anchor="t"/>
          <a:lstStyle/>
          <a:p>
            <a:pPr marL="0" indent="0" algn="l">
              <a:lnSpc>
                <a:spcPts val="1900"/>
              </a:lnSpc>
              <a:buNone/>
            </a:pPr>
            <a:r>
              <a:rPr lang="en-US" sz="1400" b="1" dirty="0">
                <a:solidFill>
                  <a:srgbClr val="E2E6E9"/>
                </a:solidFill>
                <a:latin typeface="Source Sans 3" pitchFamily="34" charset="0"/>
                <a:ea typeface="Source Sans 3" pitchFamily="34" charset="-122"/>
                <a:cs typeface="Source Sans 3" pitchFamily="34" charset="-120"/>
              </a:rPr>
              <a:t>Conclusion:</a:t>
            </a:r>
            <a:r>
              <a:rPr lang="en-US" sz="1400" dirty="0">
                <a:solidFill>
                  <a:srgbClr val="E2E6E9"/>
                </a:solidFill>
                <a:latin typeface="Source Sans 3" pitchFamily="34" charset="0"/>
                <a:ea typeface="Source Sans 3" pitchFamily="34" charset="-122"/>
                <a:cs typeface="Source Sans 3" pitchFamily="34" charset="-120"/>
              </a:rPr>
              <a:t> The Smart Study Planner provides a comprehensive solution for academic task management by integrating scheduling, focus techniques, performance tracking, and note-taking into a unified web application. The intelligent priority system ensures students focus on what matters most, while analytics help identify productivity patterns and areas for improvement.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1197</Words>
  <Application>Microsoft Office PowerPoint</Application>
  <PresentationFormat>Custom</PresentationFormat>
  <Paragraphs>138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Source Sans 3</vt:lpstr>
      <vt:lpstr>Montserrat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Mani Rithik</dc:creator>
  <cp:lastModifiedBy>Mani Rithik</cp:lastModifiedBy>
  <cp:revision>2</cp:revision>
  <dcterms:created xsi:type="dcterms:W3CDTF">2026-04-30T08:53:21Z</dcterms:created>
  <dcterms:modified xsi:type="dcterms:W3CDTF">2026-04-30T12:10:10Z</dcterms:modified>
</cp:coreProperties>
</file>